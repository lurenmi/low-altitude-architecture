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C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0F0FF"/>
                </a:solidFill>
                <a:latin typeface="Microsoft YaHei"/>
              </a:rPr>
              <a:t>????????????</a:t>
            </a:r>
          </a:p>
          <a:p>
            <a:r>
              <a:rPr sz="1400">
                <a:solidFill>
                  <a:srgbClr val="C8C8E6"/>
                </a:solidFill>
                <a:latin typeface="Microsoft YaHei"/>
              </a:rPr>
              <a:t>???????????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972800" cy="4389120"/>
          </a:xfrm>
          <a:prstGeom prst="rect">
            <a:avLst/>
          </a:prstGeom>
          <a:solidFill>
            <a:srgbClr val="1E1C3A"/>
          </a:solidFill>
          <a:ln>
            <a:solidFill>
              <a:srgbClr val="76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F0FF"/>
                </a:solidFill>
                <a:latin typeface="Microsoft YaHei"/>
              </a:rPr>
              <a:t>????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10607040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????????????????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????????????????????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???????????????????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C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0F0FF"/>
                </a:solidFill>
                <a:latin typeface="Microsoft YaHei"/>
              </a:rPr>
              <a:t>0. 执行摘要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577840" cy="5120640"/>
          </a:xfrm>
          <a:prstGeom prst="rect">
            <a:avLst/>
          </a:prstGeom>
          <a:solidFill>
            <a:srgbClr val="1E1C3A"/>
          </a:solidFill>
          <a:ln>
            <a:solidFill>
              <a:srgbClr val="76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481328"/>
            <a:ext cx="5212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F0FF"/>
                </a:solidFill>
                <a:latin typeface="Microsoft YaHei"/>
              </a:rPr>
              <a:t>??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938528"/>
            <a:ext cx="5212079" cy="4434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第一年做最小可用系统（MVP）：固定侦测点、机动单元、平台核心模块、联动SOP。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第二年做规模复制：扩点覆盖、专题算法增强、跨部门协同常态化。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形成“技术能力+组织机制+制度流程”三位一体的低空治理底座。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371600"/>
            <a:ext cx="5212080" cy="5120640"/>
          </a:xfrm>
          <a:prstGeom prst="rect">
            <a:avLst/>
          </a:prstGeom>
          <a:solidFill>
            <a:srgbClr val="1E1C3A"/>
          </a:solidFill>
          <a:ln>
            <a:solidFill>
              <a:srgbClr val="76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481328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F0FF"/>
                </a:solidFill>
                <a:latin typeface="Microsoft YaHei"/>
              </a:rPr>
              <a:t>??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38528"/>
            <a:ext cx="4846320" cy="4434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一次性建设（CAPEX）：约748-1458万元。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年运营成本（OPEX）：约220-540万元/年。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资金结构建议：财政底座+政府购买服务+共建分摊（按场景分层配置）。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C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0F0FF"/>
                </a:solidFill>
                <a:latin typeface="Microsoft YaHei"/>
              </a:rPr>
              <a:t>1. 低空经济背景与建设必要性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577840" cy="5120640"/>
          </a:xfrm>
          <a:prstGeom prst="rect">
            <a:avLst/>
          </a:prstGeom>
          <a:solidFill>
            <a:srgbClr val="1E1C3A"/>
          </a:solidFill>
          <a:ln>
            <a:solidFill>
              <a:srgbClr val="76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481328"/>
            <a:ext cx="5212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F0FF"/>
                </a:solidFill>
                <a:latin typeface="Microsoft YaHei"/>
              </a:rPr>
              <a:t>??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938528"/>
            <a:ext cx="5212079" cy="4434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《无人驾驶航空器飞行管理暂行条例》自 **2024-01-01** 施行，确立分级分类监管与多部门协同机制。[A1]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《民用无人驾驶航空器运行安全管理规则》（CCAR-92）已生效，明确运行分类、运行人责任与平台管理边界。[A2]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工信部等四部门发布《通用航空装备创新应用实施方案（2024-2030年）》，提出2030年形成万亿级市场规模，强调“应用与安全并进”。[A3][A4]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民航局发布两项无人机强制性国家标准并于 **2026-05-01** 实施，强化实名与运行识别支撑能力。[A5]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无人机运营合格证单位：19979家。[A6]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无人机拥有者注册用户：161.9万个。[A6]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注册无人机：217.7万架。[A6]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371600"/>
            <a:ext cx="5212080" cy="5120640"/>
          </a:xfrm>
          <a:prstGeom prst="rect">
            <a:avLst/>
          </a:prstGeom>
          <a:solidFill>
            <a:srgbClr val="1E1C3A"/>
          </a:solidFill>
          <a:ln>
            <a:solidFill>
              <a:srgbClr val="76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481328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F0FF"/>
                </a:solidFill>
                <a:latin typeface="Microsoft YaHei"/>
              </a:rPr>
              <a:t>??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38528"/>
            <a:ext cx="4846320" cy="4434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产业必要性：低空物流、巡检、应急等业务扩张，需要“可监管、可追溯、可协同”的运行底座。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合规必要性：法规标准进入落地期，不建设平台将导致“业务发展快、监管能力慢”的失衡。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管理必要性：传统人工巡防模式成本高、覆盖有限、难复盘，难以支撑城市级治理。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形成全天候侦测能力：重点区域7x24持续感知。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形成可执行预警能力：按事件等级自动触发预警与工单。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形成受控联动能力：侦测设备与反制设备分权联动、全程审计留痕。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形成数据资产能力：沉淀目标行为库、风险规则库、案例复盘库。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C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0F0FF"/>
                </a:solidFill>
                <a:latin typeface="Microsoft YaHei"/>
              </a:rPr>
              <a:t>2. 市场分析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577840" cy="5120640"/>
          </a:xfrm>
          <a:prstGeom prst="rect">
            <a:avLst/>
          </a:prstGeom>
          <a:solidFill>
            <a:srgbClr val="1E1C3A"/>
          </a:solidFill>
          <a:ln>
            <a:solidFill>
              <a:srgbClr val="76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481328"/>
            <a:ext cx="5212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F0FF"/>
                </a:solidFill>
                <a:latin typeface="Microsoft YaHei"/>
              </a:rPr>
              <a:t>??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938528"/>
            <a:ext cx="5212079" cy="4434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政策驱动：法规、标准和治理要求持续细化，推动地方建设低空监管能力。[A1][A2][A5]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需求驱动：公共安全、重大活动、重点设施防护、应急联动场景对低空防护需求高频化。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技术驱动：无线电侦测、RID、光电、雷达、多源融合算法成熟度提升，工程化落地成本下降。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采购驱动：政府采购与政法/边防/园区采购持续释放需求，形成可量化价格带。[A9][A10][A11][A12]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上游：传感器与核心器件（射频前端、天线阵列、光电组件、边缘算力）。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中游：设备厂商（侦测设备、反制设备、融合网关）与平台厂商（算法+GIS+指挥平台）。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下游：监管部门、运营单位、园区运营方、活动保障单位、机场/口岸/交通枢纽。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371600"/>
            <a:ext cx="5212080" cy="5120640"/>
          </a:xfrm>
          <a:prstGeom prst="rect">
            <a:avLst/>
          </a:prstGeom>
          <a:solidFill>
            <a:srgbClr val="1E1C3A"/>
          </a:solidFill>
          <a:ln>
            <a:solidFill>
              <a:srgbClr val="76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481328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F0FF"/>
                </a:solidFill>
                <a:latin typeface="Microsoft YaHei"/>
              </a:rPr>
              <a:t>??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38528"/>
            <a:ext cx="4846320" cy="4434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基础设施防护型：关注关键设施周边长期稳定防护。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宏观口径：低空经济总体规模预期提升，为低空安全治理子赛道提供持续需求空间。[A4]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项目口径：本方案采用“目标区域数量 × 覆盖密度 × 部署形态 × 年度服务系数”测算。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可服务市场（SAM）口径：以本地重点区域和高风险场景清单作为第一阶段可服务范围。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可获取市场（SOM）口径：以试点成功率、预算周期、跨部门协同成熟度决定年度可转化规模。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单套侦测识别设备可见价格锚点约36万元/套。[A9]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侦测+反制一体化设备可见锚点约41.1732万元/套（样本主设备）。[A10]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C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0F0FF"/>
                </a:solidFill>
                <a:latin typeface="Microsoft YaHei"/>
              </a:rPr>
              <a:t>3. 竞品分析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577840" cy="5120640"/>
          </a:xfrm>
          <a:prstGeom prst="rect">
            <a:avLst/>
          </a:prstGeom>
          <a:solidFill>
            <a:srgbClr val="1E1C3A"/>
          </a:solidFill>
          <a:ln>
            <a:solidFill>
              <a:srgbClr val="76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481328"/>
            <a:ext cx="5212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F0FF"/>
                </a:solidFill>
                <a:latin typeface="Microsoft YaHei"/>
              </a:rPr>
              <a:t>??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938528"/>
            <a:ext cx="5212079" cy="4434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A类：单设备型（仅侦测或仅反制）。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B类：一体设备型（侦测+反制一体）。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C类：多设备堆叠型（设备多但平台弱）。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D类：平台主导型（平台强、设备依赖外部生态）。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E类：平台+设备+运营一体型（端到端服务）。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单设备方案：覆盖断点明显，难支撑城市级闭环。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仅堆设备方案：平台治理能力弱，误报治理成本高。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371600"/>
            <a:ext cx="5212080" cy="5120640"/>
          </a:xfrm>
          <a:prstGeom prst="rect">
            <a:avLst/>
          </a:prstGeom>
          <a:solidFill>
            <a:srgbClr val="1E1C3A"/>
          </a:solidFill>
          <a:ln>
            <a:solidFill>
              <a:srgbClr val="76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481328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F0FF"/>
                </a:solidFill>
                <a:latin typeface="Microsoft YaHei"/>
              </a:rPr>
              <a:t>??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38528"/>
            <a:ext cx="4846320" cy="4434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单次项目导向方案：重建设轻运营，持续效果衰减。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建设逻辑：从“买设备”转向“建能力”（侦测能力、预警能力、联动能力、运营能力）。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产品结构：侦测硬件与反制硬件分权管理，平台统一编排，满足合规边界。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商业结构：支持单站/单套/城区三口径报价，兼容一次性建设与持续运营采购。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实施结构：先试点后扩面，降低预算与组织风险。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价格战应对：采用模块化拆分报价（基础包、增强包、运营包）避免同质比价。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技术战应对：以“有效预警率、误报率、闭环时效、在线率”作为可验收指标。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C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0F0FF"/>
                </a:solidFill>
                <a:latin typeface="Microsoft YaHei"/>
              </a:rPr>
              <a:t>4. 技术可行性分析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577840" cy="5120640"/>
          </a:xfrm>
          <a:prstGeom prst="rect">
            <a:avLst/>
          </a:prstGeom>
          <a:solidFill>
            <a:srgbClr val="1E1C3A"/>
          </a:solidFill>
          <a:ln>
            <a:solidFill>
              <a:srgbClr val="76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481328"/>
            <a:ext cx="5212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F0FF"/>
                </a:solidFill>
                <a:latin typeface="Microsoft YaHei"/>
              </a:rPr>
              <a:t>??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938528"/>
            <a:ext cx="5212079" cy="4434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侦测侧：无线电侦测、RID接收、光电识别、频谱分析已具备工程化案例。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算法侧：多源目标关联、轨迹重建、异常行为识别已可城市级部署。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平台侧：时空引擎、告警引擎、工单联动、审计追踪具备标准化实现路径。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运维侧：设备健康监测、链路监测、模型版本治理可纳入SLA体系。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管理依据明确：可按法规开展分级分类管理。[A1][A2]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技术边界清晰：侦测常态化，反制需授权链条与审计追踪。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371600"/>
            <a:ext cx="5212080" cy="5120640"/>
          </a:xfrm>
          <a:prstGeom prst="rect">
            <a:avLst/>
          </a:prstGeom>
          <a:solidFill>
            <a:srgbClr val="1E1C3A"/>
          </a:solidFill>
          <a:ln>
            <a:solidFill>
              <a:srgbClr val="76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481328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F0FF"/>
                </a:solidFill>
                <a:latin typeface="Microsoft YaHei"/>
              </a:rPr>
              <a:t>??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38528"/>
            <a:ext cx="4846320" cy="4434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采购路径明确：可采用货物采购+服务采购组合实施。[A7]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建设机制可落地：可按PPP新机制适配个别可收费场景。[A8]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分期可行：可先建设MVP能力，降低一次性组织风险。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接口可行：设备协议层适配+中间网关可解决异构接入。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运维可行：建立“值守+技术+设备+审计”四岗协同即可运行。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C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0F0FF"/>
                </a:solidFill>
                <a:latin typeface="Microsoft YaHei"/>
              </a:rPr>
              <a:t>5. 用户需求分析（业务+功能+非功能）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577840" cy="5120640"/>
          </a:xfrm>
          <a:prstGeom prst="rect">
            <a:avLst/>
          </a:prstGeom>
          <a:solidFill>
            <a:srgbClr val="1E1C3A"/>
          </a:solidFill>
          <a:ln>
            <a:solidFill>
              <a:srgbClr val="76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481328"/>
            <a:ext cx="5212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F0FF"/>
                </a:solidFill>
                <a:latin typeface="Microsoft YaHei"/>
              </a:rPr>
              <a:t>??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938528"/>
            <a:ext cx="5212079" cy="4434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监管用户：关注态势总览、规则策略、联动处置与审计。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运营用户：关注设备运行、告警处理、值守效率。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指挥用户：关注事件等级、指令下达、跨部门协同。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运维用户：关注在线率、故障恢复、容量预警。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合规用户：关注授权闭环、日志留痕、导出与稽核。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日常巡防：重点空域全时感知与异常上报。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活动保障：临时布防、临时规则、战时值守。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371600"/>
            <a:ext cx="5212080" cy="5120640"/>
          </a:xfrm>
          <a:prstGeom prst="rect">
            <a:avLst/>
          </a:prstGeom>
          <a:solidFill>
            <a:srgbClr val="1E1C3A"/>
          </a:solidFill>
          <a:ln>
            <a:solidFill>
              <a:srgbClr val="76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481328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F0FF"/>
                </a:solidFill>
                <a:latin typeface="Microsoft YaHei"/>
              </a:rPr>
              <a:t>??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38528"/>
            <a:ext cx="4846320" cy="4434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规则编排与处置预案模板。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专题报表与复盘中心。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设备健康与链路质量看板。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模型自学习与策略自动推荐。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跨区域协同与联合研判。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行业场景包（园区/机场/口岸等）快速复制。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可用性：平台可用性不低于99.5%。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C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0F0FF"/>
                </a:solidFill>
                <a:latin typeface="Microsoft YaHei"/>
              </a:rPr>
              <a:t>6. 建设方案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577840" cy="5120640"/>
          </a:xfrm>
          <a:prstGeom prst="rect">
            <a:avLst/>
          </a:prstGeom>
          <a:solidFill>
            <a:srgbClr val="1E1C3A"/>
          </a:solidFill>
          <a:ln>
            <a:solidFill>
              <a:srgbClr val="76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481328"/>
            <a:ext cx="5212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F0FF"/>
                </a:solidFill>
                <a:latin typeface="Microsoft YaHei"/>
              </a:rPr>
              <a:t>??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938528"/>
            <a:ext cx="5212079" cy="4434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基础设施层：侦测站、反制设备、边缘节点、网络、时钟定位。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侦测算法层：信号识别、目标关联、轨迹重建、风险判别。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数据服务层：流式处理、时空引擎、规则引擎、接口网关。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平台功能层：态势、预警、联动、运维、审计五大中心。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场景应用层：城市巡防、园区安防、活动安保、敏感区防护。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用户层：监管、运营、指挥、运维、协同单位。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高风险区域高密覆盖，普通区域轻量覆盖。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371600"/>
            <a:ext cx="5212080" cy="5120640"/>
          </a:xfrm>
          <a:prstGeom prst="rect">
            <a:avLst/>
          </a:prstGeom>
          <a:solidFill>
            <a:srgbClr val="1E1C3A"/>
          </a:solidFill>
          <a:ln>
            <a:solidFill>
              <a:srgbClr val="76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481328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F0FF"/>
                </a:solidFill>
                <a:latin typeface="Microsoft YaHei"/>
              </a:rPr>
              <a:t>??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38528"/>
            <a:ext cx="4846320" cy="4434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侦测硬件：常态在线，持续采集与识别。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反制硬件：策略授权后启用，默认待命。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处置追溯：反制指令、执行人、执行时段、处置效果必须可回溯。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态势驾驶舱：地图主视角，目标/设备/告警同屏联动。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预警中心：主题化预警（黑飞、越界、身份异常、轨迹异常）。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算法中心：参数-技术-协同参数-关联硬件-场景映射配置。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联动中心：规则编排、工单流转、跨部门协同、闭环考核。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C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0F0FF"/>
                </a:solidFill>
                <a:latin typeface="Microsoft YaHei"/>
              </a:rPr>
              <a:t>7. 运营方案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577840" cy="5120640"/>
          </a:xfrm>
          <a:prstGeom prst="rect">
            <a:avLst/>
          </a:prstGeom>
          <a:solidFill>
            <a:srgbClr val="1E1C3A"/>
          </a:solidFill>
          <a:ln>
            <a:solidFill>
              <a:srgbClr val="76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481328"/>
            <a:ext cx="5212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F0FF"/>
                </a:solidFill>
                <a:latin typeface="Microsoft YaHei"/>
              </a:rPr>
              <a:t>??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938528"/>
            <a:ext cx="5212079" cy="4434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指挥中心：统筹值守和跨部门协同。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技术运营组：规则维护、模型优化、专题分析。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设备运维组：巡检、备件、故障处置、校准维护。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合规审计组：授权审核、日志审计、制度闭环。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值守与指挥：6-8人。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技术运营：4-6人。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设备运维：4-6人。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371600"/>
            <a:ext cx="5212080" cy="5120640"/>
          </a:xfrm>
          <a:prstGeom prst="rect">
            <a:avLst/>
          </a:prstGeom>
          <a:solidFill>
            <a:srgbClr val="1E1C3A"/>
          </a:solidFill>
          <a:ln>
            <a:solidFill>
              <a:srgbClr val="76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481328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F0FF"/>
                </a:solidFill>
                <a:latin typeface="Microsoft YaHei"/>
              </a:rPr>
              <a:t>??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38528"/>
            <a:ext cx="4846320" cy="4434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7x24值守，重大活动保障期间升级响应等级。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三级事件响应：一般/重要/紧急，绑定时限与责任人。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周例会复盘、月度绩效评估、季度策略迭代。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发现率：重点区域目标发现率。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有效率：有效预警占比。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时效性：平均告警闭环时长。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稳定性：平台可用性与设备在线率。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C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0F0FF"/>
                </a:solidFill>
                <a:latin typeface="Microsoft YaHei"/>
              </a:rPr>
              <a:t>8. 试点运行方案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577840" cy="5120640"/>
          </a:xfrm>
          <a:prstGeom prst="rect">
            <a:avLst/>
          </a:prstGeom>
          <a:solidFill>
            <a:srgbClr val="1E1C3A"/>
          </a:solidFill>
          <a:ln>
            <a:solidFill>
              <a:srgbClr val="76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481328"/>
            <a:ext cx="5212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F0FF"/>
                </a:solidFill>
                <a:latin typeface="Microsoft YaHei"/>
              </a:rPr>
              <a:t>??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938528"/>
            <a:ext cx="5212079" cy="4434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1个中心城区高风险片区。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2个典型园区/活动保障区。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1个敏感防护区域。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验证多源侦测组合在本地电磁环境下的有效性。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验证“预警-研判-联动-复盘”闭环可执行性。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验证运维组织与SOP可持续性。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371600"/>
            <a:ext cx="5212080" cy="5120640"/>
          </a:xfrm>
          <a:prstGeom prst="rect">
            <a:avLst/>
          </a:prstGeom>
          <a:solidFill>
            <a:srgbClr val="1E1C3A"/>
          </a:solidFill>
          <a:ln>
            <a:solidFill>
              <a:srgbClr val="76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481328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F0FF"/>
                </a:solidFill>
                <a:latin typeface="Microsoft YaHei"/>
              </a:rPr>
              <a:t>??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38528"/>
            <a:ext cx="4846320" cy="4434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重点区域目标发现率 ≥ 90%。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有效预警率 ≥ 80%。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平台可用性 ≥ 99.5%。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重大事件闭环率 ≥ 95%。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平均处置时长较基线下降 ≥ 30%。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C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0F0FF"/>
                </a:solidFill>
                <a:latin typeface="Microsoft YaHei"/>
              </a:rPr>
              <a:t>9. 投资估算与资金来源分析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577840" cy="5120640"/>
          </a:xfrm>
          <a:prstGeom prst="rect">
            <a:avLst/>
          </a:prstGeom>
          <a:solidFill>
            <a:srgbClr val="1E1C3A"/>
          </a:solidFill>
          <a:ln>
            <a:solidFill>
              <a:srgbClr val="76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481328"/>
            <a:ext cx="5212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F0FF"/>
                </a:solidFill>
                <a:latin typeface="Microsoft YaHei"/>
              </a:rPr>
              <a:t>??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938528"/>
            <a:ext cx="5212079" cy="4434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采用“公开中标样本价格+场景修正系数+集成实施费”组合口径。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明确区分：硬件采购、平台软件、集成实施、年度运营。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采用三种展示口径：单站、单套、城区部署总价。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固定侦测点：360-560万元。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机动单元：88-168万元。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平台软件与集成：180-420万元。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网络与安全：80-220万元。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371600"/>
            <a:ext cx="5212080" cy="5120640"/>
          </a:xfrm>
          <a:prstGeom prst="rect">
            <a:avLst/>
          </a:prstGeom>
          <a:solidFill>
            <a:srgbClr val="1E1C3A"/>
          </a:solidFill>
          <a:ln>
            <a:solidFill>
              <a:srgbClr val="76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481328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F0FF"/>
                </a:solidFill>
                <a:latin typeface="Microsoft YaHei"/>
              </a:rPr>
              <a:t>??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38528"/>
            <a:ext cx="4846320" cy="4434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专线/云资源与安全服务：50-140万元/年。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点位数量每增加1个，CAPEX约增加45-70万元。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机动单元每增加1套，CAPEX约增加22-42万元。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平台复杂度由P0扩展至P0+P1，软件与集成费用通常增加30%-60%。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专网/云资源策略差异会导致OPEX出现20%-40%波动。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财政资金：公共安全基础能力建设。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政府购买服务：持续运营、技术服务、值守服务采购。[A7]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C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0F0FF"/>
                </a:solidFill>
                <a:latin typeface="Microsoft YaHei"/>
              </a:rPr>
              <a:t>10. 社会经济效益分析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577840" cy="5120640"/>
          </a:xfrm>
          <a:prstGeom prst="rect">
            <a:avLst/>
          </a:prstGeom>
          <a:solidFill>
            <a:srgbClr val="1E1C3A"/>
          </a:solidFill>
          <a:ln>
            <a:solidFill>
              <a:srgbClr val="76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481328"/>
            <a:ext cx="5212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F0FF"/>
                </a:solidFill>
                <a:latin typeface="Microsoft YaHei"/>
              </a:rPr>
              <a:t>??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938528"/>
            <a:ext cx="5212079" cy="4434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提升重点区域低空风险防控能力。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提升重大活动低空安全保障能力。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提升跨部门协同效率与处置透明度。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提升监管可追溯能力，降低执法争议风险。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降低人工巡防和事件处置的人力成本。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降低低空风险事件引发的停工停运损失。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371600"/>
            <a:ext cx="5212080" cy="5120640"/>
          </a:xfrm>
          <a:prstGeom prst="rect">
            <a:avLst/>
          </a:prstGeom>
          <a:solidFill>
            <a:srgbClr val="1E1C3A"/>
          </a:solidFill>
          <a:ln>
            <a:solidFill>
              <a:srgbClr val="76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481328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F0FF"/>
                </a:solidFill>
                <a:latin typeface="Microsoft YaHei"/>
              </a:rPr>
              <a:t>??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38528"/>
            <a:ext cx="4846320" cy="4434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支撑低空物流、巡检、应急等产业安全发展。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带动本地设备、软件、运维服务产业协同。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形成标准化SOP与指标体系。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形成“数据驱动决策”的治理机制。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形成可复制的区域推广模板。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C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0F0FF"/>
                </a:solidFill>
                <a:latin typeface="Microsoft YaHei"/>
              </a:rPr>
              <a:t>11. 风险与对策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577840" cy="5120640"/>
          </a:xfrm>
          <a:prstGeom prst="rect">
            <a:avLst/>
          </a:prstGeom>
          <a:solidFill>
            <a:srgbClr val="1E1C3A"/>
          </a:solidFill>
          <a:ln>
            <a:solidFill>
              <a:srgbClr val="76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481328"/>
            <a:ext cx="5212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F0FF"/>
                </a:solidFill>
                <a:latin typeface="Microsoft YaHei"/>
              </a:rPr>
              <a:t>??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938528"/>
            <a:ext cx="5212079" cy="4434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技术风险：多源融合误差和复杂环境误报。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合规风险：反制越权或证据链不完整。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预算风险：一次性建设范围过大导致超概算。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371600"/>
            <a:ext cx="5212080" cy="5120640"/>
          </a:xfrm>
          <a:prstGeom prst="rect">
            <a:avLst/>
          </a:prstGeom>
          <a:solidFill>
            <a:srgbClr val="1E1C3A"/>
          </a:solidFill>
          <a:ln>
            <a:solidFill>
              <a:srgbClr val="76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481328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F0FF"/>
                </a:solidFill>
                <a:latin typeface="Microsoft YaHei"/>
              </a:rPr>
              <a:t>??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38528"/>
            <a:ext cx="4846320" cy="4434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协同风险：跨部门职责边界不清。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供应链风险：厂商锁定和替换成本高。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C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0F0FF"/>
                </a:solidFill>
                <a:latin typeface="Microsoft YaHei"/>
              </a:rPr>
              <a:t>12. 组织实施与里程碑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577840" cy="5120640"/>
          </a:xfrm>
          <a:prstGeom prst="rect">
            <a:avLst/>
          </a:prstGeom>
          <a:solidFill>
            <a:srgbClr val="1E1C3A"/>
          </a:solidFill>
          <a:ln>
            <a:solidFill>
              <a:srgbClr val="76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481328"/>
            <a:ext cx="5212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F0FF"/>
                </a:solidFill>
                <a:latin typeface="Microsoft YaHei"/>
              </a:rPr>
              <a:t>??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938528"/>
            <a:ext cx="5212079" cy="4434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设立项目领导小组：负责目标、预算、政策协调。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设立PMO：负责进度、质量、风险、变更管理。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设立专家组：负责技术路线、验收标准评审。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M1（第1-2月）：完成可研、立项、预算审定、招采方案。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M2（第3-5月）：完成首批点位建设、平台上线、联调联试。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M3（第6-9月）：完成实战运行、策略优化、联动演练。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371600"/>
            <a:ext cx="5212080" cy="5120640"/>
          </a:xfrm>
          <a:prstGeom prst="rect">
            <a:avLst/>
          </a:prstGeom>
          <a:solidFill>
            <a:srgbClr val="1E1C3A"/>
          </a:solidFill>
          <a:ln>
            <a:solidFill>
              <a:srgbClr val="76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481328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F0FF"/>
                </a:solidFill>
                <a:latin typeface="Microsoft YaHei"/>
              </a:rPr>
              <a:t>??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38528"/>
            <a:ext cx="4846320" cy="4434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M4（第10-12月）：完成评估验收、扩面计划、运营移交。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总体设计与详细设计文档。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点位部署图与网络拓扑图。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平台功能说明书与接口规范。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运维SOP、应急预案、审计策略。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试点评估报告与扩面建议书。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C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0F0FF"/>
                </a:solidFill>
                <a:latin typeface="Microsoft YaHei"/>
              </a:rPr>
              <a:t>13. 建议新增的可研附录（用于“本子更扎实”）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577840" cy="5120640"/>
          </a:xfrm>
          <a:prstGeom prst="rect">
            <a:avLst/>
          </a:prstGeom>
          <a:solidFill>
            <a:srgbClr val="1E1C3A"/>
          </a:solidFill>
          <a:ln>
            <a:solidFill>
              <a:srgbClr val="76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481328"/>
            <a:ext cx="5212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F0FF"/>
                </a:solidFill>
                <a:latin typeface="Microsoft YaHei"/>
              </a:rPr>
              <a:t>??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938528"/>
            <a:ext cx="5212079" cy="4434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附录A：试点区域勘察模板（电磁环境、遮挡、链路质量、供电条件）。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附录B：事件分级标准与联动处置SOP模板。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附录C：设备选型评分表（性能、兼容性、国产化、运维成本）。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371600"/>
            <a:ext cx="5212080" cy="5120640"/>
          </a:xfrm>
          <a:prstGeom prst="rect">
            <a:avLst/>
          </a:prstGeom>
          <a:solidFill>
            <a:srgbClr val="1E1C3A"/>
          </a:solidFill>
          <a:ln>
            <a:solidFill>
              <a:srgbClr val="76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481328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F0FF"/>
                </a:solidFill>
                <a:latin typeface="Microsoft YaHei"/>
              </a:rPr>
              <a:t>??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38528"/>
            <a:ext cx="4846320" cy="4434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附录D：验收测试用例清单（发现率、误报率、时效、稳定性）。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8C8E6"/>
                </a:solidFill>
                <a:latin typeface="Microsoft YaHei"/>
              </a:rPr>
              <a:t>? 附录E：年度预算拆解模板（CAPEX/OPEX/扩面预算）。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C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0F0FF"/>
                </a:solidFill>
                <a:latin typeface="Microsoft YaHei"/>
              </a:rPr>
              <a:t>??</a:t>
            </a:r>
          </a:p>
          <a:p>
            <a:r>
              <a:rPr sz="1400">
                <a:solidFill>
                  <a:srgbClr val="C8C8E6"/>
                </a:solidFill>
                <a:latin typeface="Microsoft YaHei"/>
              </a:rPr>
              <a:t>????????????????????????????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