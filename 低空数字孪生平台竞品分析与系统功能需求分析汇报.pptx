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Master" Target="slideMasters/slideMaster1.xml"/><Relationship Id="rId2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01/18</a:t>
            </a:r>
            <a:endParaRPr lang="zh-CN" sz="700"/>
          </a:p>
        </p:txBody>
      </p:sp>
      <p:sp>
        <p:nvSpPr>
          <p:cNvPr id="22" name="Shape 2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90D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3" name="Shape 23"/>
          <p:cNvSpPr txBox="1"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4" name="Shape 24"/>
          <p:cNvSpPr txBox="1"/>
          <p:nvPr/>
        </p:nvSpPr>
        <p:spPr>
          <a:xfrm>
            <a:off x="713232" y="1051560"/>
            <a:ext cx="768096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3400" b="1">
                <a:solidFill>
                  <a:srgbClr val="E5E7EB"/>
                </a:solidFill>
                <a:latin typeface="Microsoft YaHei"/>
                <a:ea typeface="Microsoft YaHei"/>
              </a:rPr>
              <a:t>低空数字孪生平台</a:t>
            </a:r>
            <a:endParaRPr lang="zh-CN" sz="3400"/>
          </a:p>
        </p:txBody>
      </p:sp>
      <p:sp>
        <p:nvSpPr>
          <p:cNvPr id="25" name="Shape 25"/>
          <p:cNvSpPr txBox="1"/>
          <p:nvPr/>
        </p:nvSpPr>
        <p:spPr>
          <a:xfrm>
            <a:off x="749808" y="178308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200" b="1">
                <a:solidFill>
                  <a:srgbClr val="FFD21F"/>
                </a:solidFill>
                <a:latin typeface="Microsoft YaHei"/>
                <a:ea typeface="Microsoft YaHei"/>
              </a:rPr>
              <a:t>竞品分析与系统功能需求分析汇报</a:t>
            </a:r>
            <a:endParaRPr lang="zh-CN" sz="2200"/>
          </a:p>
        </p:txBody>
      </p:sp>
      <p:sp>
        <p:nvSpPr>
          <p:cNvPr id="26" name="Shape 26"/>
          <p:cNvSpPr txBox="1"/>
          <p:nvPr/>
        </p:nvSpPr>
        <p:spPr>
          <a:xfrm>
            <a:off x="768096" y="235915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面向低空空域治理、飞行服务、运行监管与产业运营的一体化数字底座</a:t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768096" y="3072384"/>
            <a:ext cx="1298448" cy="32918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竞品格局</a:t>
            </a:r>
            <a:endParaRPr lang="zh-CN" sz="900"/>
          </a:p>
        </p:txBody>
      </p:sp>
      <p:sp>
        <p:nvSpPr>
          <p:cNvPr id="28" name="Shape 28"/>
          <p:cNvSpPr txBox="1"/>
          <p:nvPr/>
        </p:nvSpPr>
        <p:spPr>
          <a:xfrm>
            <a:off x="2212848" y="3072384"/>
            <a:ext cx="1298448" cy="32918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功能蓝图</a:t>
            </a:r>
            <a:endParaRPr lang="zh-CN" sz="900"/>
          </a:p>
        </p:txBody>
      </p:sp>
      <p:sp>
        <p:nvSpPr>
          <p:cNvPr id="29" name="Shape 29"/>
          <p:cNvSpPr txBox="1"/>
          <p:nvPr/>
        </p:nvSpPr>
        <p:spPr>
          <a:xfrm>
            <a:off x="3657600" y="3072384"/>
            <a:ext cx="1298448" cy="32918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建设路线</a:t>
            </a:r>
            <a:endParaRPr lang="zh-CN" sz="900"/>
          </a:p>
        </p:txBody>
      </p:sp>
      <p:sp>
        <p:nvSpPr>
          <p:cNvPr id="30" name="Shape 30"/>
          <p:cNvSpPr txBox="1"/>
          <p:nvPr/>
        </p:nvSpPr>
        <p:spPr>
          <a:xfrm>
            <a:off x="5102352" y="3072384"/>
            <a:ext cx="1298448" cy="32918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价值指标</a:t>
            </a:r>
            <a:endParaRPr lang="zh-CN" sz="900"/>
          </a:p>
        </p:txBody>
      </p:sp>
      <p:sp>
        <p:nvSpPr>
          <p:cNvPr id="31" name="Shape 31"/>
          <p:cNvSpPr txBox="1"/>
          <p:nvPr/>
        </p:nvSpPr>
        <p:spPr>
          <a:xfrm>
            <a:off x="8001000" y="1115568"/>
            <a:ext cx="3063240" cy="4096512"/>
          </a:xfrm>
          <a:prstGeom prst="roundRect">
            <a:avLst/>
          </a:prstGeom>
          <a:solidFill>
            <a:srgbClr val="10141B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8275320" y="14173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00" b="1">
                <a:solidFill>
                  <a:srgbClr val="FFD21F"/>
                </a:solidFill>
                <a:latin typeface="Microsoft YaHei"/>
                <a:ea typeface="Microsoft YaHei"/>
              </a:rPr>
              <a:t>4D LOW-ALTITUDE TWIN</a:t>
            </a:r>
            <a:endParaRPr lang="zh-CN" sz="1000"/>
          </a:p>
        </p:txBody>
      </p:sp>
      <p:sp>
        <p:nvSpPr>
          <p:cNvPr id="33" name="Shape 33"/>
          <p:cNvSpPr txBox="1"/>
          <p:nvPr/>
        </p:nvSpPr>
        <p:spPr>
          <a:xfrm>
            <a:off x="8458200" y="1965960"/>
            <a:ext cx="2148840" cy="36576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8641080" y="2514600"/>
            <a:ext cx="21488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8458200" y="3063240"/>
            <a:ext cx="2148840" cy="36576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6" name="Shape 36"/>
          <p:cNvSpPr txBox="1"/>
          <p:nvPr/>
        </p:nvSpPr>
        <p:spPr>
          <a:xfrm>
            <a:off x="8641080" y="3611880"/>
            <a:ext cx="21488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7" name="Shape 37"/>
          <p:cNvSpPr txBox="1"/>
          <p:nvPr/>
        </p:nvSpPr>
        <p:spPr>
          <a:xfrm>
            <a:off x="8275320" y="4160520"/>
            <a:ext cx="2148840" cy="36576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8" name="Shape 38"/>
          <p:cNvSpPr txBox="1"/>
          <p:nvPr/>
        </p:nvSpPr>
        <p:spPr>
          <a:xfrm>
            <a:off x="9098280" y="1874519"/>
            <a:ext cx="128016" cy="128016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9784080" y="2423160"/>
            <a:ext cx="128016" cy="1280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0" name="Shape 40"/>
          <p:cNvSpPr txBox="1"/>
          <p:nvPr/>
        </p:nvSpPr>
        <p:spPr>
          <a:xfrm>
            <a:off x="9281160" y="2971800"/>
            <a:ext cx="128016" cy="128016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1" name="Shape 41"/>
          <p:cNvSpPr txBox="1"/>
          <p:nvPr/>
        </p:nvSpPr>
        <p:spPr>
          <a:xfrm>
            <a:off x="10195560" y="3520440"/>
            <a:ext cx="128016" cy="1280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2" name="Shape 42"/>
          <p:cNvSpPr txBox="1"/>
          <p:nvPr/>
        </p:nvSpPr>
        <p:spPr>
          <a:xfrm>
            <a:off x="749808" y="608076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2026年5月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核心判断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低空数字孪生平台的竞争焦点，正在从可视化展示转向可运营、可监管、可仿真的低空基础设施。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EXEC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02/18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713232" y="117043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859536" y="128930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平台定位</a:t>
            </a:r>
            <a:endParaRPr lang="zh-CN" sz="800"/>
          </a:p>
        </p:txBody>
      </p:sp>
      <p:sp>
        <p:nvSpPr>
          <p:cNvPr id="27" name="Shape 27"/>
          <p:cNvSpPr txBox="1"/>
          <p:nvPr/>
        </p:nvSpPr>
        <p:spPr>
          <a:xfrm>
            <a:off x="859536" y="151790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FFD21F"/>
                </a:solidFill>
                <a:latin typeface="Microsoft YaHei"/>
                <a:ea typeface="Microsoft YaHei"/>
              </a:rPr>
              <a:t>数字底座</a:t>
            </a:r>
            <a:endParaRPr lang="zh-CN" sz="1800"/>
          </a:p>
        </p:txBody>
      </p:sp>
      <p:sp>
        <p:nvSpPr>
          <p:cNvPr id="28" name="Shape 28"/>
          <p:cNvSpPr txBox="1"/>
          <p:nvPr/>
        </p:nvSpPr>
        <p:spPr>
          <a:xfrm>
            <a:off x="859536" y="185623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不是单一三维大屏</a:t>
            </a:r>
            <a:endParaRPr lang="zh-CN" sz="700"/>
          </a:p>
        </p:txBody>
      </p:sp>
      <p:sp>
        <p:nvSpPr>
          <p:cNvPr id="29" name="Shape 29"/>
          <p:cNvSpPr txBox="1"/>
          <p:nvPr/>
        </p:nvSpPr>
        <p:spPr>
          <a:xfrm>
            <a:off x="3090672" y="117043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3236976" y="128930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业务主线</a:t>
            </a:r>
            <a:endParaRPr lang="zh-CN" sz="800"/>
          </a:p>
        </p:txBody>
      </p:sp>
      <p:sp>
        <p:nvSpPr>
          <p:cNvPr id="31" name="Shape 31"/>
          <p:cNvSpPr txBox="1"/>
          <p:nvPr/>
        </p:nvSpPr>
        <p:spPr>
          <a:xfrm>
            <a:off x="3236976" y="151790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00E5FF"/>
                </a:solidFill>
                <a:latin typeface="Microsoft YaHei"/>
                <a:ea typeface="Microsoft YaHei"/>
              </a:rPr>
              <a:t>全流程闭环</a:t>
            </a:r>
            <a:endParaRPr lang="zh-CN" sz="1800"/>
          </a:p>
        </p:txBody>
      </p:sp>
      <p:sp>
        <p:nvSpPr>
          <p:cNvPr id="32" name="Shape 32"/>
          <p:cNvSpPr txBox="1"/>
          <p:nvPr/>
        </p:nvSpPr>
        <p:spPr>
          <a:xfrm>
            <a:off x="3236976" y="185623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规划-审批-执行-复盘</a:t>
            </a:r>
            <a:endParaRPr lang="zh-CN" sz="700"/>
          </a:p>
        </p:txBody>
      </p:sp>
      <p:sp>
        <p:nvSpPr>
          <p:cNvPr id="33" name="Shape 33"/>
          <p:cNvSpPr txBox="1"/>
          <p:nvPr/>
        </p:nvSpPr>
        <p:spPr>
          <a:xfrm>
            <a:off x="5468112" y="117043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5614416" y="128930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核心资产</a:t>
            </a:r>
            <a:endParaRPr lang="zh-CN" sz="800"/>
          </a:p>
        </p:txBody>
      </p:sp>
      <p:sp>
        <p:nvSpPr>
          <p:cNvPr id="35" name="Shape 35"/>
          <p:cNvSpPr txBox="1"/>
          <p:nvPr/>
        </p:nvSpPr>
        <p:spPr>
          <a:xfrm>
            <a:off x="5614416" y="151790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22C55E"/>
                </a:solidFill>
                <a:latin typeface="Microsoft YaHei"/>
                <a:ea typeface="Microsoft YaHei"/>
              </a:rPr>
              <a:t>四维空域</a:t>
            </a:r>
            <a:endParaRPr lang="zh-CN" sz="1800"/>
          </a:p>
        </p:txBody>
      </p:sp>
      <p:sp>
        <p:nvSpPr>
          <p:cNvPr id="36" name="Shape 36"/>
          <p:cNvSpPr txBox="1"/>
          <p:nvPr/>
        </p:nvSpPr>
        <p:spPr>
          <a:xfrm>
            <a:off x="5614416" y="185623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空间+高度+时间+规则</a:t>
            </a:r>
            <a:endParaRPr lang="zh-CN" sz="700"/>
          </a:p>
        </p:txBody>
      </p:sp>
      <p:sp>
        <p:nvSpPr>
          <p:cNvPr id="37" name="Shape 37"/>
          <p:cNvSpPr txBox="1"/>
          <p:nvPr/>
        </p:nvSpPr>
        <p:spPr>
          <a:xfrm>
            <a:off x="7845552" y="117043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8" name="Shape 38"/>
          <p:cNvSpPr txBox="1"/>
          <p:nvPr/>
        </p:nvSpPr>
        <p:spPr>
          <a:xfrm>
            <a:off x="7991856" y="128930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落地策略</a:t>
            </a:r>
            <a:endParaRPr lang="zh-CN" sz="800"/>
          </a:p>
        </p:txBody>
      </p:sp>
      <p:sp>
        <p:nvSpPr>
          <p:cNvPr id="39" name="Shape 39"/>
          <p:cNvSpPr txBox="1"/>
          <p:nvPr/>
        </p:nvSpPr>
        <p:spPr>
          <a:xfrm>
            <a:off x="7991856" y="151790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F59E0B"/>
                </a:solidFill>
                <a:latin typeface="Microsoft YaHei"/>
                <a:ea typeface="Microsoft YaHei"/>
              </a:rPr>
              <a:t>轻重两套</a:t>
            </a:r>
            <a:endParaRPr lang="zh-CN" sz="1800"/>
          </a:p>
        </p:txBody>
      </p:sp>
      <p:sp>
        <p:nvSpPr>
          <p:cNvPr id="40" name="Shape 40"/>
          <p:cNvSpPr txBox="1"/>
          <p:nvPr/>
        </p:nvSpPr>
        <p:spPr>
          <a:xfrm>
            <a:off x="7991856" y="185623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市级管服+园区快装</a:t>
            </a:r>
            <a:endParaRPr lang="zh-CN" sz="700"/>
          </a:p>
        </p:txBody>
      </p:sp>
      <p:sp>
        <p:nvSpPr>
          <p:cNvPr id="41" name="Shape 41"/>
          <p:cNvSpPr txBox="1"/>
          <p:nvPr/>
        </p:nvSpPr>
        <p:spPr>
          <a:xfrm>
            <a:off x="713232" y="2606040"/>
            <a:ext cx="10744200" cy="230428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2" name="Shape 42"/>
          <p:cNvSpPr txBox="1"/>
          <p:nvPr/>
        </p:nvSpPr>
        <p:spPr>
          <a:xfrm>
            <a:off x="960120" y="2907791"/>
            <a:ext cx="73152" cy="256032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3" name="Shape 43"/>
          <p:cNvSpPr txBox="1"/>
          <p:nvPr/>
        </p:nvSpPr>
        <p:spPr>
          <a:xfrm>
            <a:off x="1106424" y="28803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一句话结论</a:t>
            </a:r>
            <a:endParaRPr lang="zh-CN" sz="1400"/>
          </a:p>
        </p:txBody>
      </p:sp>
      <p:sp>
        <p:nvSpPr>
          <p:cNvPr id="44" name="Shape 44"/>
          <p:cNvSpPr txBox="1"/>
          <p:nvPr/>
        </p:nvSpPr>
        <p:spPr>
          <a:xfrm>
            <a:off x="960120" y="3364992"/>
            <a:ext cx="100126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2200" b="1">
                <a:solidFill>
                  <a:srgbClr val="FFD21F"/>
                </a:solidFill>
                <a:latin typeface="Microsoft YaHei"/>
                <a:ea typeface="Microsoft YaHei"/>
              </a:rPr>
              <a:t>把低空飞行从“看得见”推进到“算得出、批得快、管得住、调得动、可运营”。</a:t>
            </a:r>
            <a:endParaRPr lang="zh-CN" sz="2200"/>
          </a:p>
        </p:txBody>
      </p:sp>
      <p:sp>
        <p:nvSpPr>
          <p:cNvPr id="45" name="Shape 45"/>
          <p:cNvSpPr txBox="1"/>
          <p:nvPr/>
        </p:nvSpPr>
        <p:spPr>
          <a:xfrm>
            <a:off x="960120" y="4160520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一期打穿飞行计划、审批、放行、监控、告警、复盘的最小闭环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二期补齐四维空域、容量评估、多源感知、应急指挥和仿真能力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三期扩展 AI 优化、计费结算、生态接入和跨城市复制</a:t>
            </a:r>
            <a:endParaRPr lang="zh-CN" sz="900"/>
          </a:p>
        </p:txBody>
      </p:sp>
      <p:sp>
        <p:nvSpPr>
          <p:cNvPr id="46" name="Shape 46"/>
          <p:cNvSpPr txBox="1"/>
          <p:nvPr/>
        </p:nvSpPr>
        <p:spPr>
          <a:xfrm>
            <a:off x="713232" y="5321808"/>
            <a:ext cx="10744200" cy="47548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7" name="Shape 47"/>
          <p:cNvSpPr txBox="1"/>
          <p:nvPr/>
        </p:nvSpPr>
        <p:spPr>
          <a:xfrm>
            <a:off x="960120" y="5458968"/>
            <a:ext cx="10012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汇报建议落点：以低空安全监管为刚需切入，以飞行服务闭环为一期抓手，以场景运营和生态接口形成长期价值。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行业与政策驱动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低空经济进入“安全健康发展”阶段，平台需求从试点展示转向高频运行保障。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MARKET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03/18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822960" y="1234440"/>
            <a:ext cx="1051560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1097280" y="1078992"/>
            <a:ext cx="347472" cy="34747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3886200" y="1078992"/>
            <a:ext cx="347472" cy="34747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6720840" y="1078992"/>
            <a:ext cx="347472" cy="34747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9555480" y="1078992"/>
            <a:ext cx="347472" cy="34747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777240" y="153619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D21F"/>
                </a:solidFill>
                <a:latin typeface="Microsoft YaHei"/>
                <a:ea typeface="Microsoft YaHei"/>
              </a:rPr>
              <a:t>2024</a:t>
            </a:r>
            <a:endParaRPr lang="zh-CN" sz="1300"/>
          </a:p>
        </p:txBody>
      </p:sp>
      <p:sp>
        <p:nvSpPr>
          <p:cNvPr id="31" name="Shape 31"/>
          <p:cNvSpPr txBox="1"/>
          <p:nvPr/>
        </p:nvSpPr>
        <p:spPr>
          <a:xfrm>
            <a:off x="3566160" y="153619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D21F"/>
                </a:solidFill>
                <a:latin typeface="Microsoft YaHei"/>
                <a:ea typeface="Microsoft YaHei"/>
              </a:rPr>
              <a:t>2025</a:t>
            </a:r>
            <a:endParaRPr lang="zh-CN" sz="1300"/>
          </a:p>
        </p:txBody>
      </p:sp>
      <p:sp>
        <p:nvSpPr>
          <p:cNvPr id="32" name="Shape 32"/>
          <p:cNvSpPr txBox="1"/>
          <p:nvPr/>
        </p:nvSpPr>
        <p:spPr>
          <a:xfrm>
            <a:off x="6400800" y="153619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D21F"/>
                </a:solidFill>
                <a:latin typeface="Microsoft YaHei"/>
                <a:ea typeface="Microsoft YaHei"/>
              </a:rPr>
              <a:t>2026</a:t>
            </a:r>
            <a:endParaRPr lang="zh-CN" sz="1300"/>
          </a:p>
        </p:txBody>
      </p:sp>
      <p:sp>
        <p:nvSpPr>
          <p:cNvPr id="33" name="Shape 33"/>
          <p:cNvSpPr txBox="1"/>
          <p:nvPr/>
        </p:nvSpPr>
        <p:spPr>
          <a:xfrm>
            <a:off x="9235440" y="153619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D21F"/>
                </a:solidFill>
                <a:latin typeface="Microsoft YaHei"/>
                <a:ea typeface="Microsoft YaHei"/>
              </a:rPr>
              <a:t>后续</a:t>
            </a:r>
            <a:endParaRPr lang="zh-CN" sz="1300"/>
          </a:p>
        </p:txBody>
      </p:sp>
      <p:sp>
        <p:nvSpPr>
          <p:cNvPr id="34" name="Shape 34"/>
          <p:cNvSpPr txBox="1"/>
          <p:nvPr/>
        </p:nvSpPr>
        <p:spPr>
          <a:xfrm>
            <a:off x="685800" y="1965960"/>
            <a:ext cx="2514600" cy="219456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685800" y="1965960"/>
            <a:ext cx="251460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6" name="Shape 36"/>
          <p:cNvSpPr txBox="1"/>
          <p:nvPr/>
        </p:nvSpPr>
        <p:spPr>
          <a:xfrm>
            <a:off x="850392" y="2130552"/>
            <a:ext cx="2185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法规落地</a:t>
            </a:r>
            <a:endParaRPr lang="zh-CN" sz="1300"/>
          </a:p>
        </p:txBody>
      </p:sp>
      <p:sp>
        <p:nvSpPr>
          <p:cNvPr id="37" name="Shape 37"/>
          <p:cNvSpPr txBox="1"/>
          <p:nvPr/>
        </p:nvSpPr>
        <p:spPr>
          <a:xfrm>
            <a:off x="850392" y="2514600"/>
            <a:ext cx="2185416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《无人驾驶航空器飞行管理暂行条例》施行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实名登记、识别报送、飞行申请成为基础要求</a:t>
            </a:r>
            <a:endParaRPr lang="zh-CN" sz="900"/>
          </a:p>
        </p:txBody>
      </p:sp>
      <p:sp>
        <p:nvSpPr>
          <p:cNvPr id="38" name="Shape 38"/>
          <p:cNvSpPr txBox="1"/>
          <p:nvPr/>
        </p:nvSpPr>
        <p:spPr>
          <a:xfrm>
            <a:off x="3429000" y="1965960"/>
            <a:ext cx="2514600" cy="219456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3429000" y="1965960"/>
            <a:ext cx="25146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0" name="Shape 40"/>
          <p:cNvSpPr txBox="1"/>
          <p:nvPr/>
        </p:nvSpPr>
        <p:spPr>
          <a:xfrm>
            <a:off x="3593592" y="2130552"/>
            <a:ext cx="2185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政策提速</a:t>
            </a:r>
            <a:endParaRPr lang="zh-CN" sz="1300"/>
          </a:p>
        </p:txBody>
      </p:sp>
      <p:sp>
        <p:nvSpPr>
          <p:cNvPr id="41" name="Shape 41"/>
          <p:cNvSpPr txBox="1"/>
          <p:nvPr/>
        </p:nvSpPr>
        <p:spPr>
          <a:xfrm>
            <a:off x="3593592" y="2514600"/>
            <a:ext cx="2185416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推动低空经济安全健康发展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先载货后载人、先隔离后融合</a:t>
            </a:r>
            <a:endParaRPr lang="zh-CN" sz="900"/>
          </a:p>
        </p:txBody>
      </p:sp>
      <p:sp>
        <p:nvSpPr>
          <p:cNvPr id="42" name="Shape 42"/>
          <p:cNvSpPr txBox="1"/>
          <p:nvPr/>
        </p:nvSpPr>
        <p:spPr>
          <a:xfrm>
            <a:off x="6172200" y="1965960"/>
            <a:ext cx="2514600" cy="219456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3" name="Shape 43"/>
          <p:cNvSpPr txBox="1"/>
          <p:nvPr/>
        </p:nvSpPr>
        <p:spPr>
          <a:xfrm>
            <a:off x="6172200" y="1965960"/>
            <a:ext cx="2514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4" name="Shape 44"/>
          <p:cNvSpPr txBox="1"/>
          <p:nvPr/>
        </p:nvSpPr>
        <p:spPr>
          <a:xfrm>
            <a:off x="6336792" y="2130552"/>
            <a:ext cx="2185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接口标准</a:t>
            </a:r>
            <a:endParaRPr lang="zh-CN" sz="1300"/>
          </a:p>
        </p:txBody>
      </p:sp>
      <p:sp>
        <p:nvSpPr>
          <p:cNvPr id="45" name="Shape 45"/>
          <p:cNvSpPr txBox="1"/>
          <p:nvPr/>
        </p:nvSpPr>
        <p:spPr>
          <a:xfrm>
            <a:off x="6336792" y="2514600"/>
            <a:ext cx="2185416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UOM 与 USS 数据接口标准推进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地方飞行服务保障体系需要平台承载</a:t>
            </a:r>
            <a:endParaRPr lang="zh-CN" sz="900"/>
          </a:p>
        </p:txBody>
      </p:sp>
      <p:sp>
        <p:nvSpPr>
          <p:cNvPr id="46" name="Shape 46"/>
          <p:cNvSpPr txBox="1"/>
          <p:nvPr/>
        </p:nvSpPr>
        <p:spPr>
          <a:xfrm>
            <a:off x="8915400" y="1965960"/>
            <a:ext cx="2514600" cy="219456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7" name="Shape 47"/>
          <p:cNvSpPr txBox="1"/>
          <p:nvPr/>
        </p:nvSpPr>
        <p:spPr>
          <a:xfrm>
            <a:off x="8915400" y="196596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8" name="Shape 48"/>
          <p:cNvSpPr txBox="1"/>
          <p:nvPr/>
        </p:nvSpPr>
        <p:spPr>
          <a:xfrm>
            <a:off x="9079992" y="2130552"/>
            <a:ext cx="2185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规模运行</a:t>
            </a:r>
            <a:endParaRPr lang="zh-CN" sz="1300"/>
          </a:p>
        </p:txBody>
      </p:sp>
      <p:sp>
        <p:nvSpPr>
          <p:cNvPr id="49" name="Shape 49"/>
          <p:cNvSpPr txBox="1"/>
          <p:nvPr/>
        </p:nvSpPr>
        <p:spPr>
          <a:xfrm>
            <a:off x="9079992" y="2514600"/>
            <a:ext cx="2185416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从局部试点走向区域商用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空域容量、安全监管、运营结算成为重点</a:t>
            </a:r>
            <a:endParaRPr lang="zh-CN" sz="900"/>
          </a:p>
        </p:txBody>
      </p:sp>
      <p:sp>
        <p:nvSpPr>
          <p:cNvPr id="50" name="Shape 50"/>
          <p:cNvSpPr txBox="1"/>
          <p:nvPr/>
        </p:nvSpPr>
        <p:spPr>
          <a:xfrm>
            <a:off x="685800" y="4709160"/>
            <a:ext cx="10744200" cy="658368"/>
          </a:xfrm>
          <a:prstGeom prst="roundRect">
            <a:avLst/>
          </a:prstGeom>
          <a:solidFill>
            <a:srgbClr val="10141B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1" name="Shape 51"/>
          <p:cNvSpPr txBox="1"/>
          <p:nvPr/>
        </p:nvSpPr>
        <p:spPr>
          <a:xfrm>
            <a:off x="960120" y="4919472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100" b="1">
                <a:solidFill>
                  <a:srgbClr val="E5E7EB"/>
                </a:solidFill>
                <a:latin typeface="Microsoft YaHei"/>
                <a:ea typeface="Microsoft YaHei"/>
              </a:rPr>
              <a:t>建设含义：平台必须内置合规流程、数据接口、安全留痕和业务连续性，不能只做三维展示。</a:t>
            </a:r>
            <a:endParaRPr lang="zh-CN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竞品格局：四类玩家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不同玩家分别占据政府管服、国际 UTM、设备运营和垂直场景，机会在于整合成可复制的运行底座。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COMP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04/18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914400" y="1188720"/>
            <a:ext cx="9875520" cy="4023360"/>
          </a:xfrm>
          <a:prstGeom prst="roundRect">
            <a:avLst/>
          </a:prstGeom>
          <a:solidFill>
            <a:srgbClr val="0F131A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1600200" y="4892040"/>
            <a:ext cx="8503920" cy="22860"/>
          </a:xfrm>
          <a:prstGeom prst="rect">
            <a:avLst/>
          </a:prstGeom>
          <a:solidFill>
            <a:srgbClr val="343A46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5715000" y="1600200"/>
            <a:ext cx="22860" cy="3246120"/>
          </a:xfrm>
          <a:prstGeom prst="rect">
            <a:avLst/>
          </a:prstGeom>
          <a:solidFill>
            <a:srgbClr val="343A46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8412480" y="50749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运营闭环强</a:t>
            </a:r>
            <a:endParaRPr lang="zh-CN" sz="900"/>
          </a:p>
        </p:txBody>
      </p:sp>
      <p:sp>
        <p:nvSpPr>
          <p:cNvPr id="29" name="Shape 29"/>
          <p:cNvSpPr txBox="1"/>
          <p:nvPr/>
        </p:nvSpPr>
        <p:spPr>
          <a:xfrm>
            <a:off x="868680" y="50749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运营闭环弱</a:t>
            </a:r>
            <a:endParaRPr lang="zh-CN" sz="900"/>
          </a:p>
        </p:txBody>
      </p:sp>
      <p:sp>
        <p:nvSpPr>
          <p:cNvPr id="30" name="Shape 30"/>
          <p:cNvSpPr txBox="1"/>
          <p:nvPr/>
        </p:nvSpPr>
        <p:spPr>
          <a:xfrm>
            <a:off x="640080" y="1417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治理深度强</a:t>
            </a:r>
            <a:endParaRPr lang="zh-CN" sz="900"/>
          </a:p>
        </p:txBody>
      </p:sp>
      <p:sp>
        <p:nvSpPr>
          <p:cNvPr id="31" name="Shape 31"/>
          <p:cNvSpPr txBox="1"/>
          <p:nvPr/>
        </p:nvSpPr>
        <p:spPr>
          <a:xfrm>
            <a:off x="640080" y="45720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治理深度弱</a:t>
            </a:r>
            <a:endParaRPr lang="zh-CN" sz="900"/>
          </a:p>
        </p:txBody>
      </p:sp>
      <p:sp>
        <p:nvSpPr>
          <p:cNvPr id="32" name="Shape 32"/>
          <p:cNvSpPr txBox="1"/>
          <p:nvPr/>
        </p:nvSpPr>
        <p:spPr>
          <a:xfrm>
            <a:off x="3063240" y="2240280"/>
            <a:ext cx="1188720" cy="1188720"/>
          </a:xfrm>
          <a:prstGeom prst="ellipse">
            <a:avLst/>
          </a:prstGeom>
          <a:solidFill>
            <a:srgbClr val="253044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3" name="Shape 33"/>
          <p:cNvSpPr txBox="1"/>
          <p:nvPr/>
        </p:nvSpPr>
        <p:spPr>
          <a:xfrm>
            <a:off x="3136392" y="2615184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00" b="1">
                <a:solidFill>
                  <a:srgbClr val="FFD21F"/>
                </a:solidFill>
                <a:latin typeface="Microsoft YaHei"/>
                <a:ea typeface="Microsoft YaHei"/>
              </a:rPr>
              <a:t>城市级管服</a:t>
            </a:r>
            <a:endParaRPr lang="zh-CN" sz="1000"/>
          </a:p>
        </p:txBody>
      </p:sp>
      <p:sp>
        <p:nvSpPr>
          <p:cNvPr id="34" name="Shape 34"/>
          <p:cNvSpPr txBox="1"/>
          <p:nvPr/>
        </p:nvSpPr>
        <p:spPr>
          <a:xfrm>
            <a:off x="2578608" y="363931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深城交 / 中科星图 / 莱斯</a:t>
            </a:r>
            <a:endParaRPr lang="zh-CN" sz="800"/>
          </a:p>
        </p:txBody>
      </p:sp>
      <p:sp>
        <p:nvSpPr>
          <p:cNvPr id="35" name="Shape 35"/>
          <p:cNvSpPr txBox="1"/>
          <p:nvPr/>
        </p:nvSpPr>
        <p:spPr>
          <a:xfrm>
            <a:off x="6949440" y="1920240"/>
            <a:ext cx="1143000" cy="1143000"/>
          </a:xfrm>
          <a:prstGeom prst="ellipse">
            <a:avLst/>
          </a:prstGeom>
          <a:solidFill>
            <a:srgbClr val="102B30"/>
          </a:solidFill>
          <a:ln w="19050">
            <a:solidFill>
              <a:srgbClr val="00E5F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6" name="Shape 36"/>
          <p:cNvSpPr txBox="1"/>
          <p:nvPr/>
        </p:nvSpPr>
        <p:spPr>
          <a:xfrm>
            <a:off x="7068312" y="22585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200" b="1">
                <a:solidFill>
                  <a:srgbClr val="00E5FF"/>
                </a:solidFill>
                <a:latin typeface="Microsoft YaHei"/>
                <a:ea typeface="Microsoft YaHei"/>
              </a:rPr>
              <a:t>UTM</a:t>
            </a:r>
            <a:endParaRPr lang="zh-CN" sz="1200"/>
          </a:p>
        </p:txBody>
      </p:sp>
      <p:sp>
        <p:nvSpPr>
          <p:cNvPr id="37" name="Shape 37"/>
          <p:cNvSpPr txBox="1"/>
          <p:nvPr/>
        </p:nvSpPr>
        <p:spPr>
          <a:xfrm>
            <a:off x="6446520" y="318211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Altitude Angel / Unifly / ANRA</a:t>
            </a:r>
            <a:endParaRPr lang="zh-CN" sz="800"/>
          </a:p>
        </p:txBody>
      </p:sp>
      <p:sp>
        <p:nvSpPr>
          <p:cNvPr id="38" name="Shape 38"/>
          <p:cNvSpPr txBox="1"/>
          <p:nvPr/>
        </p:nvSpPr>
        <p:spPr>
          <a:xfrm>
            <a:off x="7132320" y="3767328"/>
            <a:ext cx="1051560" cy="1051560"/>
          </a:xfrm>
          <a:prstGeom prst="ellipse">
            <a:avLst/>
          </a:prstGeom>
          <a:solidFill>
            <a:srgbClr val="14291B"/>
          </a:solidFill>
          <a:ln w="19050">
            <a:solidFill>
              <a:srgbClr val="22C55E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7223760" y="4096512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00" b="1">
                <a:solidFill>
                  <a:srgbClr val="22C55E"/>
                </a:solidFill>
                <a:latin typeface="Microsoft YaHei"/>
                <a:ea typeface="Microsoft YaHei"/>
              </a:rPr>
              <a:t>作业平台</a:t>
            </a:r>
            <a:endParaRPr lang="zh-CN" sz="1000"/>
          </a:p>
        </p:txBody>
      </p:sp>
      <p:sp>
        <p:nvSpPr>
          <p:cNvPr id="40" name="Shape 40"/>
          <p:cNvSpPr txBox="1"/>
          <p:nvPr/>
        </p:nvSpPr>
        <p:spPr>
          <a:xfrm>
            <a:off x="6720840" y="46634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DJI FlightHub 2</a:t>
            </a:r>
            <a:endParaRPr lang="zh-CN" sz="800"/>
          </a:p>
        </p:txBody>
      </p:sp>
      <p:sp>
        <p:nvSpPr>
          <p:cNvPr id="41" name="Shape 41"/>
          <p:cNvSpPr txBox="1"/>
          <p:nvPr/>
        </p:nvSpPr>
        <p:spPr>
          <a:xfrm>
            <a:off x="3977639" y="3886200"/>
            <a:ext cx="1051560" cy="1051560"/>
          </a:xfrm>
          <a:prstGeom prst="ellipse">
            <a:avLst/>
          </a:prstGeom>
          <a:solidFill>
            <a:srgbClr val="2B2112"/>
          </a:solidFill>
          <a:ln w="19050">
            <a:solidFill>
              <a:srgbClr val="F59E0B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2" name="Shape 42"/>
          <p:cNvSpPr txBox="1"/>
          <p:nvPr/>
        </p:nvSpPr>
        <p:spPr>
          <a:xfrm>
            <a:off x="4069080" y="420624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00" b="1">
                <a:solidFill>
                  <a:srgbClr val="F59E0B"/>
                </a:solidFill>
                <a:latin typeface="Microsoft YaHei"/>
                <a:ea typeface="Microsoft YaHei"/>
              </a:rPr>
              <a:t>场景平台</a:t>
            </a:r>
            <a:endParaRPr lang="zh-CN" sz="1000"/>
          </a:p>
        </p:txBody>
      </p:sp>
      <p:sp>
        <p:nvSpPr>
          <p:cNvPr id="43" name="Shape 43"/>
          <p:cNvSpPr txBox="1"/>
          <p:nvPr/>
        </p:nvSpPr>
        <p:spPr>
          <a:xfrm>
            <a:off x="896112" y="5532120"/>
            <a:ext cx="9921240" cy="438912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4" name="Shape 44"/>
          <p:cNvSpPr txBox="1"/>
          <p:nvPr/>
        </p:nvSpPr>
        <p:spPr>
          <a:xfrm>
            <a:off x="1143000" y="5669280"/>
            <a:ext cx="93726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机会：将城市级治理深度、UTM 合规工作流、作业平台任务闭环、场景平台业务价值，整合为统一产品。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国内竞品对比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国内厂商更贴近地方政府项目，差异主要在数据底座、空管经验、仿真能力和产品化程度。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COMP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05/18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594360" y="1078992"/>
            <a:ext cx="10972800" cy="434340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594360" y="1078992"/>
            <a:ext cx="10972800" cy="420624"/>
          </a:xfrm>
          <a:prstGeom prst="rect">
            <a:avLst/>
          </a:prstGeom>
          <a:solidFill>
            <a:srgbClr val="232A35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822960" y="120700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厂商/产品</a:t>
            </a:r>
            <a:endParaRPr lang="zh-CN" sz="900"/>
          </a:p>
        </p:txBody>
      </p:sp>
      <p:sp>
        <p:nvSpPr>
          <p:cNvPr id="28" name="Shape 28"/>
          <p:cNvSpPr txBox="1"/>
          <p:nvPr/>
        </p:nvSpPr>
        <p:spPr>
          <a:xfrm>
            <a:off x="2148840" y="1207008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核心优势</a:t>
            </a:r>
            <a:endParaRPr lang="zh-CN" sz="900"/>
          </a:p>
        </p:txBody>
      </p:sp>
      <p:sp>
        <p:nvSpPr>
          <p:cNvPr id="29" name="Shape 29"/>
          <p:cNvSpPr txBox="1"/>
          <p:nvPr/>
        </p:nvSpPr>
        <p:spPr>
          <a:xfrm>
            <a:off x="4846320" y="1207008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可借鉴</a:t>
            </a:r>
            <a:endParaRPr lang="zh-CN" sz="900"/>
          </a:p>
        </p:txBody>
      </p:sp>
      <p:sp>
        <p:nvSpPr>
          <p:cNvPr id="30" name="Shape 30"/>
          <p:cNvSpPr txBox="1"/>
          <p:nvPr/>
        </p:nvSpPr>
        <p:spPr>
          <a:xfrm>
            <a:off x="7818120" y="1207008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可突破</a:t>
            </a:r>
            <a:endParaRPr lang="zh-CN" sz="900"/>
          </a:p>
        </p:txBody>
      </p:sp>
      <p:sp>
        <p:nvSpPr>
          <p:cNvPr id="31" name="Shape 31"/>
          <p:cNvSpPr txBox="1"/>
          <p:nvPr/>
        </p:nvSpPr>
        <p:spPr>
          <a:xfrm>
            <a:off x="594360" y="1920240"/>
            <a:ext cx="10972800" cy="9144"/>
          </a:xfrm>
          <a:prstGeom prst="rect">
            <a:avLst/>
          </a:prstGeom>
          <a:solidFill>
            <a:srgbClr val="343A46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594360" y="2633472"/>
            <a:ext cx="10972800" cy="9144"/>
          </a:xfrm>
          <a:prstGeom prst="rect">
            <a:avLst/>
          </a:prstGeom>
          <a:solidFill>
            <a:srgbClr val="343A46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3" name="Shape 33"/>
          <p:cNvSpPr txBox="1"/>
          <p:nvPr/>
        </p:nvSpPr>
        <p:spPr>
          <a:xfrm>
            <a:off x="594360" y="3346704"/>
            <a:ext cx="10972800" cy="9144"/>
          </a:xfrm>
          <a:prstGeom prst="rect">
            <a:avLst/>
          </a:prstGeom>
          <a:solidFill>
            <a:srgbClr val="343A46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594360" y="4059936"/>
            <a:ext cx="10972800" cy="9144"/>
          </a:xfrm>
          <a:prstGeom prst="rect">
            <a:avLst/>
          </a:prstGeom>
          <a:solidFill>
            <a:srgbClr val="343A46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594360" y="4773168"/>
            <a:ext cx="10972800" cy="9144"/>
          </a:xfrm>
          <a:prstGeom prst="rect">
            <a:avLst/>
          </a:prstGeom>
          <a:solidFill>
            <a:srgbClr val="343A46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6" name="Shape 36"/>
          <p:cNvSpPr txBox="1"/>
          <p:nvPr/>
        </p:nvSpPr>
        <p:spPr>
          <a:xfrm>
            <a:off x="822960" y="166420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深城交</a:t>
            </a:r>
            <a:endParaRPr lang="zh-CN" sz="1000"/>
          </a:p>
        </p:txBody>
      </p:sp>
      <p:sp>
        <p:nvSpPr>
          <p:cNvPr id="37" name="Shape 37"/>
          <p:cNvSpPr txBox="1"/>
          <p:nvPr/>
        </p:nvSpPr>
        <p:spPr>
          <a:xfrm>
            <a:off x="2148840" y="160934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城市交通规划、CIM、低空管服</a:t>
            </a:r>
            <a:endParaRPr lang="zh-CN" sz="800"/>
          </a:p>
        </p:txBody>
      </p:sp>
      <p:sp>
        <p:nvSpPr>
          <p:cNvPr id="38" name="Shape 38"/>
          <p:cNvSpPr txBox="1"/>
          <p:nvPr/>
        </p:nvSpPr>
        <p:spPr>
          <a:xfrm>
            <a:off x="4846320" y="160934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把低空纳入城市交通治理体系</a:t>
            </a:r>
            <a:endParaRPr lang="zh-CN" sz="800"/>
          </a:p>
        </p:txBody>
      </p:sp>
      <p:sp>
        <p:nvSpPr>
          <p:cNvPr id="39" name="Shape 39"/>
          <p:cNvSpPr txBox="1"/>
          <p:nvPr/>
        </p:nvSpPr>
        <p:spPr>
          <a:xfrm>
            <a:off x="7818120" y="160934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沉淀轻量化和标准化复制版本</a:t>
            </a:r>
            <a:endParaRPr lang="zh-CN" sz="800"/>
          </a:p>
        </p:txBody>
      </p:sp>
      <p:sp>
        <p:nvSpPr>
          <p:cNvPr id="40" name="Shape 40"/>
          <p:cNvSpPr txBox="1"/>
          <p:nvPr/>
        </p:nvSpPr>
        <p:spPr>
          <a:xfrm>
            <a:off x="822960" y="237744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中科星图</a:t>
            </a:r>
            <a:endParaRPr lang="zh-CN" sz="1000"/>
          </a:p>
        </p:txBody>
      </p:sp>
      <p:sp>
        <p:nvSpPr>
          <p:cNvPr id="41" name="Shape 41"/>
          <p:cNvSpPr txBox="1"/>
          <p:nvPr/>
        </p:nvSpPr>
        <p:spPr>
          <a:xfrm>
            <a:off x="2148840" y="232257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空天数据、数字地球、空域网格</a:t>
            </a:r>
            <a:endParaRPr lang="zh-CN" sz="800"/>
          </a:p>
        </p:txBody>
      </p:sp>
      <p:sp>
        <p:nvSpPr>
          <p:cNvPr id="42" name="Shape 42"/>
          <p:cNvSpPr txBox="1"/>
          <p:nvPr/>
        </p:nvSpPr>
        <p:spPr>
          <a:xfrm>
            <a:off x="4846320" y="232257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多圈层数据 + 仿真计算</a:t>
            </a:r>
            <a:endParaRPr lang="zh-CN" sz="800"/>
          </a:p>
        </p:txBody>
      </p:sp>
      <p:sp>
        <p:nvSpPr>
          <p:cNvPr id="43" name="Shape 43"/>
          <p:cNvSpPr txBox="1"/>
          <p:nvPr/>
        </p:nvSpPr>
        <p:spPr>
          <a:xfrm>
            <a:off x="7818120" y="232257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增强审批、运营结算和生态接口</a:t>
            </a:r>
            <a:endParaRPr lang="zh-CN" sz="800"/>
          </a:p>
        </p:txBody>
      </p:sp>
      <p:sp>
        <p:nvSpPr>
          <p:cNvPr id="44" name="Shape 44"/>
          <p:cNvSpPr txBox="1"/>
          <p:nvPr/>
        </p:nvSpPr>
        <p:spPr>
          <a:xfrm>
            <a:off x="822960" y="309067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莱斯信息</a:t>
            </a:r>
            <a:endParaRPr lang="zh-CN" sz="1000"/>
          </a:p>
        </p:txBody>
      </p:sp>
      <p:sp>
        <p:nvSpPr>
          <p:cNvPr id="45" name="Shape 45"/>
          <p:cNvSpPr txBox="1"/>
          <p:nvPr/>
        </p:nvSpPr>
        <p:spPr>
          <a:xfrm>
            <a:off x="2148840" y="303580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空管信息化、实时监视、高并发</a:t>
            </a:r>
            <a:endParaRPr lang="zh-CN" sz="800"/>
          </a:p>
        </p:txBody>
      </p:sp>
      <p:sp>
        <p:nvSpPr>
          <p:cNvPr id="46" name="Shape 46"/>
          <p:cNvSpPr txBox="1"/>
          <p:nvPr/>
        </p:nvSpPr>
        <p:spPr>
          <a:xfrm>
            <a:off x="4846320" y="30358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用性能指标证明工程能力</a:t>
            </a:r>
            <a:endParaRPr lang="zh-CN" sz="800"/>
          </a:p>
        </p:txBody>
      </p:sp>
      <p:sp>
        <p:nvSpPr>
          <p:cNvPr id="47" name="Shape 47"/>
          <p:cNvSpPr txBox="1"/>
          <p:nvPr/>
        </p:nvSpPr>
        <p:spPr>
          <a:xfrm>
            <a:off x="7818120" y="303580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强化城市运营体验和场景应用</a:t>
            </a:r>
            <a:endParaRPr lang="zh-CN" sz="800"/>
          </a:p>
        </p:txBody>
      </p:sp>
      <p:sp>
        <p:nvSpPr>
          <p:cNvPr id="48" name="Shape 48"/>
          <p:cNvSpPr txBox="1"/>
          <p:nvPr/>
        </p:nvSpPr>
        <p:spPr>
          <a:xfrm>
            <a:off x="822960" y="3803904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飞沃智航</a:t>
            </a:r>
            <a:endParaRPr lang="zh-CN" sz="1000"/>
          </a:p>
        </p:txBody>
      </p:sp>
      <p:sp>
        <p:nvSpPr>
          <p:cNvPr id="49" name="Shape 49"/>
          <p:cNvSpPr txBox="1"/>
          <p:nvPr/>
        </p:nvSpPr>
        <p:spPr>
          <a:xfrm>
            <a:off x="2148840" y="3749039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4D 空域、AI 规划、三维交互</a:t>
            </a:r>
            <a:endParaRPr lang="zh-CN" sz="800"/>
          </a:p>
        </p:txBody>
      </p:sp>
      <p:sp>
        <p:nvSpPr>
          <p:cNvPr id="50" name="Shape 50"/>
          <p:cNvSpPr txBox="1"/>
          <p:nvPr/>
        </p:nvSpPr>
        <p:spPr>
          <a:xfrm>
            <a:off x="4846320" y="3749039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用时间维组织容量和冲突</a:t>
            </a:r>
            <a:endParaRPr lang="zh-CN" sz="800"/>
          </a:p>
        </p:txBody>
      </p:sp>
      <p:sp>
        <p:nvSpPr>
          <p:cNvPr id="51" name="Shape 51"/>
          <p:cNvSpPr txBox="1"/>
          <p:nvPr/>
        </p:nvSpPr>
        <p:spPr>
          <a:xfrm>
            <a:off x="7818120" y="3749039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补齐政府级监管和合规能力</a:t>
            </a:r>
            <a:endParaRPr lang="zh-CN" sz="800"/>
          </a:p>
        </p:txBody>
      </p:sp>
      <p:sp>
        <p:nvSpPr>
          <p:cNvPr id="52" name="Shape 52"/>
          <p:cNvSpPr txBox="1"/>
          <p:nvPr/>
        </p:nvSpPr>
        <p:spPr>
          <a:xfrm>
            <a:off x="822960" y="4517136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冰柏科技</a:t>
            </a:r>
            <a:endParaRPr lang="zh-CN" sz="1000"/>
          </a:p>
        </p:txBody>
      </p:sp>
      <p:sp>
        <p:nvSpPr>
          <p:cNvPr id="53" name="Shape 53"/>
          <p:cNvSpPr txBox="1"/>
          <p:nvPr/>
        </p:nvSpPr>
        <p:spPr>
          <a:xfrm>
            <a:off x="2148840" y="446227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1底座 + 1平台 + N场景</a:t>
            </a:r>
            <a:endParaRPr lang="zh-CN" sz="800"/>
          </a:p>
        </p:txBody>
      </p:sp>
      <p:sp>
        <p:nvSpPr>
          <p:cNvPr id="54" name="Shape 54"/>
          <p:cNvSpPr txBox="1"/>
          <p:nvPr/>
        </p:nvSpPr>
        <p:spPr>
          <a:xfrm>
            <a:off x="4846320" y="44622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分阶段交付和多场景复制</a:t>
            </a:r>
            <a:endParaRPr lang="zh-CN" sz="800"/>
          </a:p>
        </p:txBody>
      </p:sp>
      <p:sp>
        <p:nvSpPr>
          <p:cNvPr id="55" name="Shape 55"/>
          <p:cNvSpPr txBox="1"/>
          <p:nvPr/>
        </p:nvSpPr>
        <p:spPr>
          <a:xfrm>
            <a:off x="7818120" y="44622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形成大规模运行硬指标</a:t>
            </a:r>
            <a:endParaRPr lang="zh-CN" sz="800"/>
          </a:p>
        </p:txBody>
      </p:sp>
      <p:sp>
        <p:nvSpPr>
          <p:cNvPr id="56" name="Shape 56"/>
          <p:cNvSpPr txBox="1"/>
          <p:nvPr/>
        </p:nvSpPr>
        <p:spPr>
          <a:xfrm>
            <a:off x="594360" y="5650992"/>
            <a:ext cx="10972800" cy="42062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7" name="Shape 57"/>
          <p:cNvSpPr txBox="1"/>
          <p:nvPr/>
        </p:nvSpPr>
        <p:spPr>
          <a:xfrm>
            <a:off x="868680" y="5788152"/>
            <a:ext cx="103327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结论：国内竞品项目能力强，但仍有机会在“标准化产品 + 运营闭环 + 开放接口 + 仿真反哺”上形成差异。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国际 UTM / U-space 启示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国际平台的强项不是视觉，而是授权、地理感知、网络识别、交通信息、合规审计和连续运行。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COMP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06/18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594360" y="1115568"/>
            <a:ext cx="2578608" cy="233172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594360" y="1115568"/>
            <a:ext cx="2578608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758952" y="128016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Altitude Angel</a:t>
            </a:r>
            <a:endParaRPr lang="zh-CN" sz="1300"/>
          </a:p>
        </p:txBody>
      </p:sp>
      <p:sp>
        <p:nvSpPr>
          <p:cNvPr id="28" name="Shape 28"/>
          <p:cNvSpPr txBox="1"/>
          <p:nvPr/>
        </p:nvSpPr>
        <p:spPr>
          <a:xfrm>
            <a:off x="758952" y="1664207"/>
            <a:ext cx="2249424" cy="16733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飞行请求与审批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禁飞/关闭空域管理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一致性监控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传感器和反制数据集成</a:t>
            </a:r>
            <a:endParaRPr lang="zh-CN" sz="900"/>
          </a:p>
        </p:txBody>
      </p:sp>
      <p:sp>
        <p:nvSpPr>
          <p:cNvPr id="29" name="Shape 29"/>
          <p:cNvSpPr txBox="1"/>
          <p:nvPr/>
        </p:nvSpPr>
        <p:spPr>
          <a:xfrm>
            <a:off x="3429000" y="1115568"/>
            <a:ext cx="2578608" cy="233172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3429000" y="1115568"/>
            <a:ext cx="2578608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3593592" y="128016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Unifly</a:t>
            </a:r>
            <a:endParaRPr lang="zh-CN" sz="1300"/>
          </a:p>
        </p:txBody>
      </p:sp>
      <p:sp>
        <p:nvSpPr>
          <p:cNvPr id="32" name="Shape 32"/>
          <p:cNvSpPr txBox="1"/>
          <p:nvPr/>
        </p:nvSpPr>
        <p:spPr>
          <a:xfrm>
            <a:off x="3593592" y="1664207"/>
            <a:ext cx="2249424" cy="16733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集中式/分布式 UTM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监管模型可配置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国际化与品牌化部署</a:t>
            </a:r>
            <a:endParaRPr lang="zh-CN" sz="900"/>
          </a:p>
        </p:txBody>
      </p:sp>
      <p:sp>
        <p:nvSpPr>
          <p:cNvPr id="33" name="Shape 33"/>
          <p:cNvSpPr txBox="1"/>
          <p:nvPr/>
        </p:nvSpPr>
        <p:spPr>
          <a:xfrm>
            <a:off x="6263640" y="1115568"/>
            <a:ext cx="2578608" cy="233172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6263640" y="1115568"/>
            <a:ext cx="2578608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6428231" y="128016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ANRA</a:t>
            </a:r>
            <a:endParaRPr lang="zh-CN" sz="1300"/>
          </a:p>
        </p:txBody>
      </p:sp>
      <p:sp>
        <p:nvSpPr>
          <p:cNvPr id="36" name="Shape 36"/>
          <p:cNvSpPr txBox="1"/>
          <p:nvPr/>
        </p:nvSpPr>
        <p:spPr>
          <a:xfrm>
            <a:off x="6428231" y="1664207"/>
            <a:ext cx="2249424" cy="16733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EASA U-space 认证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网络识别与地理感知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安全、网安和连续性</a:t>
            </a:r>
            <a:endParaRPr lang="zh-CN" sz="900"/>
          </a:p>
        </p:txBody>
      </p:sp>
      <p:sp>
        <p:nvSpPr>
          <p:cNvPr id="37" name="Shape 37"/>
          <p:cNvSpPr txBox="1"/>
          <p:nvPr/>
        </p:nvSpPr>
        <p:spPr>
          <a:xfrm>
            <a:off x="9098280" y="1115568"/>
            <a:ext cx="2331720" cy="233172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8" name="Shape 38"/>
          <p:cNvSpPr txBox="1"/>
          <p:nvPr/>
        </p:nvSpPr>
        <p:spPr>
          <a:xfrm>
            <a:off x="9098280" y="1115568"/>
            <a:ext cx="2331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9262872" y="1280160"/>
            <a:ext cx="20025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OneSky</a:t>
            </a:r>
            <a:endParaRPr lang="zh-CN" sz="1300"/>
          </a:p>
        </p:txBody>
      </p:sp>
      <p:sp>
        <p:nvSpPr>
          <p:cNvPr id="40" name="Shape 40"/>
          <p:cNvSpPr txBox="1"/>
          <p:nvPr/>
        </p:nvSpPr>
        <p:spPr>
          <a:xfrm>
            <a:off x="9262872" y="1664207"/>
            <a:ext cx="2002536" cy="16733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4D 态势感知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建模仿真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运行中心决策支持</a:t>
            </a:r>
            <a:endParaRPr lang="zh-CN" sz="900"/>
          </a:p>
        </p:txBody>
      </p:sp>
      <p:sp>
        <p:nvSpPr>
          <p:cNvPr id="41" name="Shape 41"/>
          <p:cNvSpPr txBox="1"/>
          <p:nvPr/>
        </p:nvSpPr>
        <p:spPr>
          <a:xfrm>
            <a:off x="1005840" y="4160520"/>
            <a:ext cx="996696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2" name="Shape 42"/>
          <p:cNvSpPr txBox="1"/>
          <p:nvPr/>
        </p:nvSpPr>
        <p:spPr>
          <a:xfrm>
            <a:off x="1143000" y="4050791"/>
            <a:ext cx="256032" cy="25603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3" name="Shape 43"/>
          <p:cNvSpPr txBox="1"/>
          <p:nvPr/>
        </p:nvSpPr>
        <p:spPr>
          <a:xfrm>
            <a:off x="3108960" y="4050791"/>
            <a:ext cx="256032" cy="25603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4" name="Shape 44"/>
          <p:cNvSpPr txBox="1"/>
          <p:nvPr/>
        </p:nvSpPr>
        <p:spPr>
          <a:xfrm>
            <a:off x="5074920" y="4050791"/>
            <a:ext cx="256032" cy="25603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5" name="Shape 45"/>
          <p:cNvSpPr txBox="1"/>
          <p:nvPr/>
        </p:nvSpPr>
        <p:spPr>
          <a:xfrm>
            <a:off x="7040880" y="4050791"/>
            <a:ext cx="256032" cy="25603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6" name="Shape 46"/>
          <p:cNvSpPr txBox="1"/>
          <p:nvPr/>
        </p:nvSpPr>
        <p:spPr>
          <a:xfrm>
            <a:off x="9006840" y="4050791"/>
            <a:ext cx="256032" cy="25603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7" name="Shape 47"/>
          <p:cNvSpPr txBox="1"/>
          <p:nvPr/>
        </p:nvSpPr>
        <p:spPr>
          <a:xfrm>
            <a:off x="731520" y="44988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00" b="1">
                <a:solidFill>
                  <a:srgbClr val="E5E7EB"/>
                </a:solidFill>
                <a:latin typeface="Microsoft YaHei"/>
                <a:ea typeface="Microsoft YaHei"/>
              </a:rPr>
              <a:t>识别</a:t>
            </a:r>
            <a:endParaRPr lang="zh-CN" sz="1100"/>
          </a:p>
        </p:txBody>
      </p:sp>
      <p:sp>
        <p:nvSpPr>
          <p:cNvPr id="48" name="Shape 48"/>
          <p:cNvSpPr txBox="1"/>
          <p:nvPr/>
        </p:nvSpPr>
        <p:spPr>
          <a:xfrm>
            <a:off x="2697480" y="44988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00" b="1">
                <a:solidFill>
                  <a:srgbClr val="E5E7EB"/>
                </a:solidFill>
                <a:latin typeface="Microsoft YaHei"/>
                <a:ea typeface="Microsoft YaHei"/>
              </a:rPr>
              <a:t>感知</a:t>
            </a:r>
            <a:endParaRPr lang="zh-CN" sz="1100"/>
          </a:p>
        </p:txBody>
      </p:sp>
      <p:sp>
        <p:nvSpPr>
          <p:cNvPr id="49" name="Shape 49"/>
          <p:cNvSpPr txBox="1"/>
          <p:nvPr/>
        </p:nvSpPr>
        <p:spPr>
          <a:xfrm>
            <a:off x="4663440" y="44988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00" b="1">
                <a:solidFill>
                  <a:srgbClr val="E5E7EB"/>
                </a:solidFill>
                <a:latin typeface="Microsoft YaHei"/>
                <a:ea typeface="Microsoft YaHei"/>
              </a:rPr>
              <a:t>授权</a:t>
            </a:r>
            <a:endParaRPr lang="zh-CN" sz="1100"/>
          </a:p>
        </p:txBody>
      </p:sp>
      <p:sp>
        <p:nvSpPr>
          <p:cNvPr id="50" name="Shape 50"/>
          <p:cNvSpPr txBox="1"/>
          <p:nvPr/>
        </p:nvSpPr>
        <p:spPr>
          <a:xfrm>
            <a:off x="6629400" y="44988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00" b="1">
                <a:solidFill>
                  <a:srgbClr val="E5E7EB"/>
                </a:solidFill>
                <a:latin typeface="Microsoft YaHei"/>
                <a:ea typeface="Microsoft YaHei"/>
              </a:rPr>
              <a:t>监控</a:t>
            </a:r>
            <a:endParaRPr lang="zh-CN" sz="1100"/>
          </a:p>
        </p:txBody>
      </p:sp>
      <p:sp>
        <p:nvSpPr>
          <p:cNvPr id="51" name="Shape 51"/>
          <p:cNvSpPr txBox="1"/>
          <p:nvPr/>
        </p:nvSpPr>
        <p:spPr>
          <a:xfrm>
            <a:off x="8595360" y="44988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00" b="1">
                <a:solidFill>
                  <a:srgbClr val="E5E7EB"/>
                </a:solidFill>
                <a:latin typeface="Microsoft YaHei"/>
                <a:ea typeface="Microsoft YaHei"/>
              </a:rPr>
              <a:t>审计</a:t>
            </a:r>
            <a:endParaRPr lang="zh-CN" sz="1100"/>
          </a:p>
        </p:txBody>
      </p:sp>
      <p:sp>
        <p:nvSpPr>
          <p:cNvPr id="52" name="Shape 52"/>
          <p:cNvSpPr txBox="1"/>
          <p:nvPr/>
        </p:nvSpPr>
        <p:spPr>
          <a:xfrm>
            <a:off x="594360" y="5349240"/>
            <a:ext cx="10835640" cy="502920"/>
          </a:xfrm>
          <a:prstGeom prst="roundRect">
            <a:avLst/>
          </a:prstGeom>
          <a:solidFill>
            <a:srgbClr val="10141B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3" name="Shape 53"/>
          <p:cNvSpPr txBox="1"/>
          <p:nvPr/>
        </p:nvSpPr>
        <p:spPr>
          <a:xfrm>
            <a:off x="868680" y="5504688"/>
            <a:ext cx="10287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FFD21F"/>
                </a:solidFill>
                <a:latin typeface="Microsoft YaHei"/>
                <a:ea typeface="Microsoft YaHei"/>
              </a:rPr>
              <a:t>产品启示：把安全、网络安全、业务连续性、接口标准和软件保证纳入核心需求，而不是验收附录。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竞品空白与突破方向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差异化不是堆功能，而是把平台从一次性项目交付变成持续运行能力。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GAP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07/18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685800" y="1143000"/>
            <a:ext cx="4892040" cy="416052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960120" y="1472184"/>
            <a:ext cx="73152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1106424" y="14447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竞品常见短板</a:t>
            </a:r>
            <a:endParaRPr lang="zh-CN" sz="1400"/>
          </a:p>
        </p:txBody>
      </p:sp>
      <p:sp>
        <p:nvSpPr>
          <p:cNvPr id="28" name="Shape 28"/>
          <p:cNvSpPr txBox="1"/>
          <p:nvPr/>
        </p:nvSpPr>
        <p:spPr>
          <a:xfrm>
            <a:off x="960120" y="1993392"/>
            <a:ext cx="42519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偏项目制，跨城市复制成本高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三维展示强，业务闭环弱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绑定设备或单一场景，开放生态不足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仿真结果难反哺审批和运营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安全、审计、连续性常被后置</a:t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6565392" y="1143000"/>
            <a:ext cx="4892040" cy="416052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6839712" y="1472184"/>
            <a:ext cx="7315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6986016" y="14447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建议突破方向</a:t>
            </a:r>
            <a:endParaRPr lang="zh-CN" sz="1400"/>
          </a:p>
        </p:txBody>
      </p:sp>
      <p:sp>
        <p:nvSpPr>
          <p:cNvPr id="32" name="Shape 32"/>
          <p:cNvSpPr txBox="1"/>
          <p:nvPr/>
        </p:nvSpPr>
        <p:spPr>
          <a:xfrm>
            <a:off x="6839712" y="1993392"/>
            <a:ext cx="42519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四维空域网格成为核心资产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规划-审批-执行-监控-复盘闭环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规则、接口、场景应用插件化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设备中立，兼容多源感知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轻重两套交付，快速复制</a:t>
            </a:r>
            <a:endParaRPr lang="zh-CN" sz="1200"/>
          </a:p>
        </p:txBody>
      </p:sp>
      <p:sp>
        <p:nvSpPr>
          <p:cNvPr id="33" name="Shape 33"/>
          <p:cNvSpPr txBox="1"/>
          <p:nvPr/>
        </p:nvSpPr>
        <p:spPr>
          <a:xfrm>
            <a:off x="5605272" y="2907792"/>
            <a:ext cx="932688" cy="475488"/>
          </a:xfrm>
          <a:prstGeom prst="round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0B0D10"/>
                </a:solidFill>
                <a:latin typeface="Microsoft YaHei"/>
                <a:ea typeface="Microsoft YaHei"/>
              </a:rPr>
              <a:t>转化</a:t>
            </a:r>
            <a:endParaRPr lang="zh-CN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平台总体定位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建议定位为“低空数字孪生与运行服务平台”，同时服务政府监管、飞行服务中心和运营企业。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ARCH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08/18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713232" y="1078992"/>
            <a:ext cx="10744200" cy="640080"/>
          </a:xfrm>
          <a:prstGeom prst="roundRect">
            <a:avLst/>
          </a:prstGeom>
          <a:solidFill>
            <a:srgbClr val="141820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987552" y="1298448"/>
            <a:ext cx="10195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D21F"/>
                </a:solidFill>
                <a:latin typeface="Microsoft YaHei"/>
                <a:ea typeface="Microsoft YaHei"/>
              </a:rPr>
              <a:t>低空运行数字底座 + 空域/航线/设施规划仿真 + 飞行服务与运行监管 + 场景运营应用</a:t>
            </a:r>
            <a:endParaRPr lang="zh-CN" sz="1300"/>
          </a:p>
        </p:txBody>
      </p:sp>
      <p:sp>
        <p:nvSpPr>
          <p:cNvPr id="27" name="Shape 27"/>
          <p:cNvSpPr txBox="1"/>
          <p:nvPr/>
        </p:nvSpPr>
        <p:spPr>
          <a:xfrm>
            <a:off x="914400" y="4956048"/>
            <a:ext cx="10332720" cy="502920"/>
          </a:xfrm>
          <a:prstGeom prst="roundRect">
            <a:avLst/>
          </a:prstGeom>
          <a:solidFill>
            <a:srgbClr val="1E232D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1115568" y="5120640"/>
            <a:ext cx="99212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00" b="1">
                <a:solidFill>
                  <a:srgbClr val="E5E7EB"/>
                </a:solidFill>
                <a:latin typeface="Microsoft YaHei"/>
                <a:ea typeface="Microsoft YaHei"/>
              </a:rPr>
              <a:t>开放生态层：API / SDK / UOM / USS / 设备接入 / 政务与行业系统</a:t>
            </a:r>
            <a:endParaRPr lang="zh-CN" sz="1000"/>
          </a:p>
        </p:txBody>
      </p:sp>
      <p:sp>
        <p:nvSpPr>
          <p:cNvPr id="29" name="Shape 29"/>
          <p:cNvSpPr txBox="1"/>
          <p:nvPr/>
        </p:nvSpPr>
        <p:spPr>
          <a:xfrm>
            <a:off x="1234440" y="4224528"/>
            <a:ext cx="9692640" cy="530352"/>
          </a:xfrm>
          <a:prstGeom prst="roundRect">
            <a:avLst/>
          </a:prstGeom>
          <a:solidFill>
            <a:srgbClr val="18202B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1417320" y="4407408"/>
            <a:ext cx="93268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场景应用层：应急、巡检、物流、城市治理、文旅、测绘、载人交通预研</a:t>
            </a:r>
            <a:endParaRPr lang="zh-CN" sz="900"/>
          </a:p>
        </p:txBody>
      </p:sp>
      <p:sp>
        <p:nvSpPr>
          <p:cNvPr id="31" name="Shape 31"/>
          <p:cNvSpPr txBox="1"/>
          <p:nvPr/>
        </p:nvSpPr>
        <p:spPr>
          <a:xfrm>
            <a:off x="1554480" y="3401568"/>
            <a:ext cx="9052560" cy="621792"/>
          </a:xfrm>
          <a:prstGeom prst="roundRect">
            <a:avLst/>
          </a:prstGeom>
          <a:solidFill>
            <a:srgbClr val="1C253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1783080" y="3611880"/>
            <a:ext cx="8595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E5E7EB"/>
                </a:solidFill>
                <a:latin typeface="Microsoft YaHei"/>
                <a:ea typeface="Microsoft YaHei"/>
              </a:rPr>
              <a:t>管控服务层：空域规划、飞行服务、运行监控、安全监管、应急指挥、运营分析</a:t>
            </a:r>
            <a:endParaRPr lang="zh-CN" sz="900"/>
          </a:p>
        </p:txBody>
      </p:sp>
      <p:sp>
        <p:nvSpPr>
          <p:cNvPr id="33" name="Shape 33"/>
          <p:cNvSpPr txBox="1"/>
          <p:nvPr/>
        </p:nvSpPr>
        <p:spPr>
          <a:xfrm>
            <a:off x="1874519" y="2487168"/>
            <a:ext cx="8412480" cy="713232"/>
          </a:xfrm>
          <a:prstGeom prst="roundRect">
            <a:avLst/>
          </a:prstGeom>
          <a:solidFill>
            <a:srgbClr val="202A38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2103120" y="2724912"/>
            <a:ext cx="7955279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D21F"/>
                </a:solidFill>
                <a:latin typeface="Microsoft YaHei"/>
                <a:ea typeface="Microsoft YaHei"/>
              </a:rPr>
              <a:t>孪生底座层：三维场景、四维空域网格、动态实体、规则引擎、仿真引擎、AI 推理</a:t>
            </a:r>
            <a:endParaRPr lang="zh-CN" sz="900"/>
          </a:p>
        </p:txBody>
      </p:sp>
      <p:sp>
        <p:nvSpPr>
          <p:cNvPr id="35" name="Shape 35"/>
          <p:cNvSpPr txBox="1"/>
          <p:nvPr/>
        </p:nvSpPr>
        <p:spPr>
          <a:xfrm>
            <a:off x="2240280" y="1847088"/>
            <a:ext cx="7680960" cy="438912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6" name="Shape 36"/>
          <p:cNvSpPr txBox="1"/>
          <p:nvPr/>
        </p:nvSpPr>
        <p:spPr>
          <a:xfrm>
            <a:off x="2423160" y="1984248"/>
            <a:ext cx="73152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数据资源层：GIS/CIM/BIM、空域规则、低空设施、主体航空器、环境与运行数据</a:t>
            </a:r>
            <a:endParaRPr lang="zh-CN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低空运行业务闭环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所有功能围绕“规划-申报-审批-放行-执行-监控-处置-复盘”组织，避免平台变成只看不管的大屏。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FLOW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09/18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713232" y="2212848"/>
            <a:ext cx="1243584" cy="640080"/>
          </a:xfrm>
          <a:prstGeom prst="roundRect">
            <a:avLst/>
          </a:prstGeom>
          <a:solidFill>
            <a:srgbClr val="1B2430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2121408" y="2212848"/>
            <a:ext cx="1243584" cy="640080"/>
          </a:xfrm>
          <a:prstGeom prst="roundRect">
            <a:avLst/>
          </a:prstGeom>
          <a:solidFill>
            <a:srgbClr val="1B2430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3529584" y="2212848"/>
            <a:ext cx="1243584" cy="640080"/>
          </a:xfrm>
          <a:prstGeom prst="roundRect">
            <a:avLst/>
          </a:prstGeom>
          <a:solidFill>
            <a:srgbClr val="1B2430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4937760" y="2212848"/>
            <a:ext cx="1243584" cy="640080"/>
          </a:xfrm>
          <a:prstGeom prst="roundRect">
            <a:avLst/>
          </a:prstGeom>
          <a:solidFill>
            <a:srgbClr val="1B2430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6345936" y="2212848"/>
            <a:ext cx="1243584" cy="640080"/>
          </a:xfrm>
          <a:prstGeom prst="roundRect">
            <a:avLst/>
          </a:prstGeom>
          <a:solidFill>
            <a:srgbClr val="1B2430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7754112" y="2212848"/>
            <a:ext cx="1243584" cy="640080"/>
          </a:xfrm>
          <a:prstGeom prst="roundRect">
            <a:avLst/>
          </a:prstGeom>
          <a:solidFill>
            <a:srgbClr val="1B2430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9162288" y="2212848"/>
            <a:ext cx="1243584" cy="640080"/>
          </a:xfrm>
          <a:prstGeom prst="roundRect">
            <a:avLst/>
          </a:prstGeom>
          <a:solidFill>
            <a:srgbClr val="1B2430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10570464" y="2212848"/>
            <a:ext cx="914400" cy="640080"/>
          </a:xfrm>
          <a:prstGeom prst="round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3" name="Shape 33"/>
          <p:cNvSpPr txBox="1"/>
          <p:nvPr/>
        </p:nvSpPr>
        <p:spPr>
          <a:xfrm>
            <a:off x="713232" y="2432304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规划</a:t>
            </a:r>
            <a:endParaRPr lang="zh-CN" sz="1400"/>
          </a:p>
        </p:txBody>
      </p:sp>
      <p:sp>
        <p:nvSpPr>
          <p:cNvPr id="34" name="Shape 34"/>
          <p:cNvSpPr txBox="1"/>
          <p:nvPr/>
        </p:nvSpPr>
        <p:spPr>
          <a:xfrm>
            <a:off x="2121408" y="2432304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申报</a:t>
            </a:r>
            <a:endParaRPr lang="zh-CN" sz="1400"/>
          </a:p>
        </p:txBody>
      </p:sp>
      <p:sp>
        <p:nvSpPr>
          <p:cNvPr id="35" name="Shape 35"/>
          <p:cNvSpPr txBox="1"/>
          <p:nvPr/>
        </p:nvSpPr>
        <p:spPr>
          <a:xfrm>
            <a:off x="3529584" y="2432304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审批</a:t>
            </a:r>
            <a:endParaRPr lang="zh-CN" sz="1400"/>
          </a:p>
        </p:txBody>
      </p:sp>
      <p:sp>
        <p:nvSpPr>
          <p:cNvPr id="36" name="Shape 36"/>
          <p:cNvSpPr txBox="1"/>
          <p:nvPr/>
        </p:nvSpPr>
        <p:spPr>
          <a:xfrm>
            <a:off x="4937760" y="2432304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放行</a:t>
            </a:r>
            <a:endParaRPr lang="zh-CN" sz="1400"/>
          </a:p>
        </p:txBody>
      </p:sp>
      <p:sp>
        <p:nvSpPr>
          <p:cNvPr id="37" name="Shape 37"/>
          <p:cNvSpPr txBox="1"/>
          <p:nvPr/>
        </p:nvSpPr>
        <p:spPr>
          <a:xfrm>
            <a:off x="6345936" y="2432304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执行</a:t>
            </a:r>
            <a:endParaRPr lang="zh-CN" sz="1400"/>
          </a:p>
        </p:txBody>
      </p:sp>
      <p:sp>
        <p:nvSpPr>
          <p:cNvPr id="38" name="Shape 38"/>
          <p:cNvSpPr txBox="1"/>
          <p:nvPr/>
        </p:nvSpPr>
        <p:spPr>
          <a:xfrm>
            <a:off x="7754112" y="2432304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监控</a:t>
            </a:r>
            <a:endParaRPr lang="zh-CN" sz="1400"/>
          </a:p>
        </p:txBody>
      </p:sp>
      <p:sp>
        <p:nvSpPr>
          <p:cNvPr id="39" name="Shape 39"/>
          <p:cNvSpPr txBox="1"/>
          <p:nvPr/>
        </p:nvSpPr>
        <p:spPr>
          <a:xfrm>
            <a:off x="9162288" y="2432304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处置</a:t>
            </a:r>
            <a:endParaRPr lang="zh-CN" sz="1400"/>
          </a:p>
        </p:txBody>
      </p:sp>
      <p:sp>
        <p:nvSpPr>
          <p:cNvPr id="40" name="Shape 40"/>
          <p:cNvSpPr txBox="1"/>
          <p:nvPr/>
        </p:nvSpPr>
        <p:spPr>
          <a:xfrm>
            <a:off x="10570464" y="243230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400" b="1">
                <a:solidFill>
                  <a:srgbClr val="0B0D10"/>
                </a:solidFill>
                <a:latin typeface="Microsoft YaHei"/>
                <a:ea typeface="Microsoft YaHei"/>
              </a:rPr>
              <a:t>复盘</a:t>
            </a:r>
            <a:endParaRPr lang="zh-CN" sz="1400"/>
          </a:p>
        </p:txBody>
      </p:sp>
      <p:sp>
        <p:nvSpPr>
          <p:cNvPr id="41" name="Shape 41"/>
          <p:cNvSpPr txBox="1"/>
          <p:nvPr/>
        </p:nvSpPr>
        <p:spPr>
          <a:xfrm>
            <a:off x="914400" y="3401568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规划成果沉淀为空域、航路、起降点、容量和规则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审批授权进入动态放行和运行监控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异常事件进入告警处置和应急指挥</a:t>
            </a:r>
            <a:endParaRPr lang="zh-CN" sz="1100"/>
          </a:p>
        </p:txBody>
      </p:sp>
      <p:sp>
        <p:nvSpPr>
          <p:cNvPr id="42" name="Shape 42"/>
          <p:cNvSpPr txBox="1"/>
          <p:nvPr/>
        </p:nvSpPr>
        <p:spPr>
          <a:xfrm>
            <a:off x="6400800" y="3401568"/>
            <a:ext cx="45720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复盘结果反哺审批规则、航线设计和设施选址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每个飞行计划具备全链路审计记录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监管侧看安全，运营侧看效率和成本</a:t>
            </a:r>
            <a:endParaRPr lang="zh-CN" sz="1100"/>
          </a:p>
        </p:txBody>
      </p:sp>
      <p:sp>
        <p:nvSpPr>
          <p:cNvPr id="43" name="Shape 43"/>
          <p:cNvSpPr txBox="1"/>
          <p:nvPr/>
        </p:nvSpPr>
        <p:spPr>
          <a:xfrm>
            <a:off x="713232" y="5074920"/>
            <a:ext cx="10771632" cy="438912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4" name="Shape 44"/>
          <p:cNvSpPr txBox="1"/>
          <p:nvPr/>
        </p:nvSpPr>
        <p:spPr>
          <a:xfrm>
            <a:off x="960120" y="5212080"/>
            <a:ext cx="10241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FFD21F"/>
                </a:solidFill>
                <a:latin typeface="Microsoft YaHei"/>
                <a:ea typeface="Microsoft YaHei"/>
              </a:rPr>
              <a:t>闭环验收：任一飞行计划都能追溯到申请、审批、放行、航迹、告警、处置和归档记录。</a:t>
            </a:r>
            <a:endParaRPr 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系统功能蓝图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功能域按 P0/P1/P2 分层建设：先闭环，再增强，最后走向智能运营和开放生态。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FUNC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10/18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594360" y="109728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594360" y="1097280"/>
            <a:ext cx="214884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758952" y="126187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P0 低空一张图</a:t>
            </a:r>
            <a:endParaRPr lang="zh-CN" sz="1300"/>
          </a:p>
        </p:txBody>
      </p:sp>
      <p:sp>
        <p:nvSpPr>
          <p:cNvPr id="28" name="Shape 28"/>
          <p:cNvSpPr txBox="1"/>
          <p:nvPr/>
        </p:nvSpPr>
        <p:spPr>
          <a:xfrm>
            <a:off x="758952" y="1645919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三维底图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空域/航线/起降点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实时位置</a:t>
            </a:r>
            <a:endParaRPr lang="zh-CN" sz="900"/>
          </a:p>
        </p:txBody>
      </p:sp>
      <p:sp>
        <p:nvSpPr>
          <p:cNvPr id="29" name="Shape 29"/>
          <p:cNvSpPr txBox="1"/>
          <p:nvPr/>
        </p:nvSpPr>
        <p:spPr>
          <a:xfrm>
            <a:off x="2926080" y="109728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2926080" y="1097280"/>
            <a:ext cx="214884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3090672" y="126187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P0 飞行服务</a:t>
            </a:r>
            <a:endParaRPr lang="zh-CN" sz="1300"/>
          </a:p>
        </p:txBody>
      </p:sp>
      <p:sp>
        <p:nvSpPr>
          <p:cNvPr id="32" name="Shape 32"/>
          <p:cNvSpPr txBox="1"/>
          <p:nvPr/>
        </p:nvSpPr>
        <p:spPr>
          <a:xfrm>
            <a:off x="3090672" y="1645919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计划申报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自动风险评估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审批协同</a:t>
            </a:r>
            <a:endParaRPr lang="zh-CN" sz="900"/>
          </a:p>
        </p:txBody>
      </p:sp>
      <p:sp>
        <p:nvSpPr>
          <p:cNvPr id="33" name="Shape 33"/>
          <p:cNvSpPr txBox="1"/>
          <p:nvPr/>
        </p:nvSpPr>
        <p:spPr>
          <a:xfrm>
            <a:off x="5257800" y="109728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5257800" y="1097280"/>
            <a:ext cx="214884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5422392" y="126187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P0 运行监控</a:t>
            </a:r>
            <a:endParaRPr lang="zh-CN" sz="1300"/>
          </a:p>
        </p:txBody>
      </p:sp>
      <p:sp>
        <p:nvSpPr>
          <p:cNvPr id="36" name="Shape 36"/>
          <p:cNvSpPr txBox="1"/>
          <p:nvPr/>
        </p:nvSpPr>
        <p:spPr>
          <a:xfrm>
            <a:off x="5422392" y="1645919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航迹接入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偏航/越界/超高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告警中心</a:t>
            </a:r>
            <a:endParaRPr lang="zh-CN" sz="900"/>
          </a:p>
        </p:txBody>
      </p:sp>
      <p:sp>
        <p:nvSpPr>
          <p:cNvPr id="37" name="Shape 37"/>
          <p:cNvSpPr txBox="1"/>
          <p:nvPr/>
        </p:nvSpPr>
        <p:spPr>
          <a:xfrm>
            <a:off x="7589520" y="109728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8" name="Shape 38"/>
          <p:cNvSpPr txBox="1"/>
          <p:nvPr/>
        </p:nvSpPr>
        <p:spPr>
          <a:xfrm>
            <a:off x="7589520" y="1097280"/>
            <a:ext cx="214884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7754112" y="126187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P0 台账管理</a:t>
            </a:r>
            <a:endParaRPr lang="zh-CN" sz="1300"/>
          </a:p>
        </p:txBody>
      </p:sp>
      <p:sp>
        <p:nvSpPr>
          <p:cNvPr id="40" name="Shape 40"/>
          <p:cNvSpPr txBox="1"/>
          <p:nvPr/>
        </p:nvSpPr>
        <p:spPr>
          <a:xfrm>
            <a:off x="7754112" y="1645919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企业/人员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航空器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资质/保险</a:t>
            </a:r>
            <a:endParaRPr lang="zh-CN" sz="900"/>
          </a:p>
        </p:txBody>
      </p:sp>
      <p:sp>
        <p:nvSpPr>
          <p:cNvPr id="41" name="Shape 41"/>
          <p:cNvSpPr txBox="1"/>
          <p:nvPr/>
        </p:nvSpPr>
        <p:spPr>
          <a:xfrm>
            <a:off x="9921240" y="1097280"/>
            <a:ext cx="164592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2" name="Shape 42"/>
          <p:cNvSpPr txBox="1"/>
          <p:nvPr/>
        </p:nvSpPr>
        <p:spPr>
          <a:xfrm>
            <a:off x="9921240" y="1097280"/>
            <a:ext cx="164592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3" name="Shape 43"/>
          <p:cNvSpPr txBox="1"/>
          <p:nvPr/>
        </p:nvSpPr>
        <p:spPr>
          <a:xfrm>
            <a:off x="10085832" y="1261872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P0 统计</a:t>
            </a:r>
            <a:endParaRPr lang="zh-CN" sz="1300"/>
          </a:p>
        </p:txBody>
      </p:sp>
      <p:sp>
        <p:nvSpPr>
          <p:cNvPr id="44" name="Shape 44"/>
          <p:cNvSpPr txBox="1"/>
          <p:nvPr/>
        </p:nvSpPr>
        <p:spPr>
          <a:xfrm>
            <a:off x="10085832" y="1645919"/>
            <a:ext cx="131673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架次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审批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告警</a:t>
            </a:r>
            <a:endParaRPr lang="zh-CN" sz="900"/>
          </a:p>
        </p:txBody>
      </p:sp>
      <p:sp>
        <p:nvSpPr>
          <p:cNvPr id="45" name="Shape 45"/>
          <p:cNvSpPr txBox="1"/>
          <p:nvPr/>
        </p:nvSpPr>
        <p:spPr>
          <a:xfrm>
            <a:off x="594360" y="274320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6" name="Shape 46"/>
          <p:cNvSpPr txBox="1"/>
          <p:nvPr/>
        </p:nvSpPr>
        <p:spPr>
          <a:xfrm>
            <a:off x="594360" y="2743200"/>
            <a:ext cx="214884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7" name="Shape 47"/>
          <p:cNvSpPr txBox="1"/>
          <p:nvPr/>
        </p:nvSpPr>
        <p:spPr>
          <a:xfrm>
            <a:off x="758952" y="290779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P1 四维空域</a:t>
            </a:r>
            <a:endParaRPr lang="zh-CN" sz="1300"/>
          </a:p>
        </p:txBody>
      </p:sp>
      <p:sp>
        <p:nvSpPr>
          <p:cNvPr id="48" name="Shape 48"/>
          <p:cNvSpPr txBox="1"/>
          <p:nvPr/>
        </p:nvSpPr>
        <p:spPr>
          <a:xfrm>
            <a:off x="758952" y="329184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网格剖分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容量评估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时间预约</a:t>
            </a:r>
            <a:endParaRPr lang="zh-CN" sz="900"/>
          </a:p>
        </p:txBody>
      </p:sp>
      <p:sp>
        <p:nvSpPr>
          <p:cNvPr id="49" name="Shape 49"/>
          <p:cNvSpPr txBox="1"/>
          <p:nvPr/>
        </p:nvSpPr>
        <p:spPr>
          <a:xfrm>
            <a:off x="2926080" y="274320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0" name="Shape 50"/>
          <p:cNvSpPr txBox="1"/>
          <p:nvPr/>
        </p:nvSpPr>
        <p:spPr>
          <a:xfrm>
            <a:off x="2926080" y="2743200"/>
            <a:ext cx="214884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1" name="Shape 51"/>
          <p:cNvSpPr txBox="1"/>
          <p:nvPr/>
        </p:nvSpPr>
        <p:spPr>
          <a:xfrm>
            <a:off x="3090672" y="290779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P1 多源感知</a:t>
            </a:r>
            <a:endParaRPr lang="zh-CN" sz="1300"/>
          </a:p>
        </p:txBody>
      </p:sp>
      <p:sp>
        <p:nvSpPr>
          <p:cNvPr id="52" name="Shape 52"/>
          <p:cNvSpPr txBox="1"/>
          <p:nvPr/>
        </p:nvSpPr>
        <p:spPr>
          <a:xfrm>
            <a:off x="3090672" y="329184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雷达/光电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5G-A 通感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目标融合</a:t>
            </a:r>
            <a:endParaRPr lang="zh-CN" sz="900"/>
          </a:p>
        </p:txBody>
      </p:sp>
      <p:sp>
        <p:nvSpPr>
          <p:cNvPr id="53" name="Shape 53"/>
          <p:cNvSpPr txBox="1"/>
          <p:nvPr/>
        </p:nvSpPr>
        <p:spPr>
          <a:xfrm>
            <a:off x="5257800" y="274320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4" name="Shape 54"/>
          <p:cNvSpPr txBox="1"/>
          <p:nvPr/>
        </p:nvSpPr>
        <p:spPr>
          <a:xfrm>
            <a:off x="5257800" y="2743200"/>
            <a:ext cx="214884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5" name="Shape 55"/>
          <p:cNvSpPr txBox="1"/>
          <p:nvPr/>
        </p:nvSpPr>
        <p:spPr>
          <a:xfrm>
            <a:off x="5422392" y="290779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P1 应急指挥</a:t>
            </a:r>
            <a:endParaRPr lang="zh-CN" sz="1300"/>
          </a:p>
        </p:txBody>
      </p:sp>
      <p:sp>
        <p:nvSpPr>
          <p:cNvPr id="56" name="Shape 56"/>
          <p:cNvSpPr txBox="1"/>
          <p:nvPr/>
        </p:nvSpPr>
        <p:spPr>
          <a:xfrm>
            <a:off x="5422392" y="329184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临时空域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任务优先级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反制联动</a:t>
            </a:r>
            <a:endParaRPr lang="zh-CN" sz="900"/>
          </a:p>
        </p:txBody>
      </p:sp>
      <p:sp>
        <p:nvSpPr>
          <p:cNvPr id="57" name="Shape 57"/>
          <p:cNvSpPr txBox="1"/>
          <p:nvPr/>
        </p:nvSpPr>
        <p:spPr>
          <a:xfrm>
            <a:off x="7589520" y="2743200"/>
            <a:ext cx="214884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8" name="Shape 58"/>
          <p:cNvSpPr txBox="1"/>
          <p:nvPr/>
        </p:nvSpPr>
        <p:spPr>
          <a:xfrm>
            <a:off x="7589520" y="2743200"/>
            <a:ext cx="214884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9" name="Shape 59"/>
          <p:cNvSpPr txBox="1"/>
          <p:nvPr/>
        </p:nvSpPr>
        <p:spPr>
          <a:xfrm>
            <a:off x="7754112" y="290779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P1 仿真推演</a:t>
            </a:r>
            <a:endParaRPr lang="zh-CN" sz="1300"/>
          </a:p>
        </p:txBody>
      </p:sp>
      <p:sp>
        <p:nvSpPr>
          <p:cNvPr id="60" name="Shape 60"/>
          <p:cNvSpPr txBox="1"/>
          <p:nvPr/>
        </p:nvSpPr>
        <p:spPr>
          <a:xfrm>
            <a:off x="7754112" y="329184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航线仿真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设施选址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交通流</a:t>
            </a:r>
            <a:endParaRPr lang="zh-CN" sz="900"/>
          </a:p>
        </p:txBody>
      </p:sp>
      <p:sp>
        <p:nvSpPr>
          <p:cNvPr id="61" name="Shape 61"/>
          <p:cNvSpPr txBox="1"/>
          <p:nvPr/>
        </p:nvSpPr>
        <p:spPr>
          <a:xfrm>
            <a:off x="9921240" y="2743200"/>
            <a:ext cx="1645920" cy="129844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2" name="Shape 62"/>
          <p:cNvSpPr txBox="1"/>
          <p:nvPr/>
        </p:nvSpPr>
        <p:spPr>
          <a:xfrm>
            <a:off x="9921240" y="2743200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3" name="Shape 63"/>
          <p:cNvSpPr txBox="1"/>
          <p:nvPr/>
        </p:nvSpPr>
        <p:spPr>
          <a:xfrm>
            <a:off x="10085832" y="2907792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P1 场景</a:t>
            </a:r>
            <a:endParaRPr lang="zh-CN" sz="1300"/>
          </a:p>
        </p:txBody>
      </p:sp>
      <p:sp>
        <p:nvSpPr>
          <p:cNvPr id="64" name="Shape 64"/>
          <p:cNvSpPr txBox="1"/>
          <p:nvPr/>
        </p:nvSpPr>
        <p:spPr>
          <a:xfrm>
            <a:off x="10085832" y="3291840"/>
            <a:ext cx="131673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应急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巡检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物流</a:t>
            </a:r>
            <a:endParaRPr lang="zh-CN" sz="900"/>
          </a:p>
        </p:txBody>
      </p:sp>
      <p:sp>
        <p:nvSpPr>
          <p:cNvPr id="65" name="Shape 65"/>
          <p:cNvSpPr txBox="1"/>
          <p:nvPr/>
        </p:nvSpPr>
        <p:spPr>
          <a:xfrm>
            <a:off x="1143000" y="4389120"/>
            <a:ext cx="2560320" cy="111556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6" name="Shape 66"/>
          <p:cNvSpPr txBox="1"/>
          <p:nvPr/>
        </p:nvSpPr>
        <p:spPr>
          <a:xfrm>
            <a:off x="1143000" y="4389120"/>
            <a:ext cx="2560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7" name="Shape 67"/>
          <p:cNvSpPr txBox="1"/>
          <p:nvPr/>
        </p:nvSpPr>
        <p:spPr>
          <a:xfrm>
            <a:off x="1307592" y="4553712"/>
            <a:ext cx="22311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P2 AI 优化</a:t>
            </a:r>
            <a:endParaRPr lang="zh-CN" sz="1300"/>
          </a:p>
        </p:txBody>
      </p:sp>
      <p:sp>
        <p:nvSpPr>
          <p:cNvPr id="68" name="Shape 68"/>
          <p:cNvSpPr txBox="1"/>
          <p:nvPr/>
        </p:nvSpPr>
        <p:spPr>
          <a:xfrm>
            <a:off x="1307592" y="4937759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航线优化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容量预测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告警降噪</a:t>
            </a:r>
            <a:endParaRPr lang="zh-CN" sz="900"/>
          </a:p>
        </p:txBody>
      </p:sp>
      <p:sp>
        <p:nvSpPr>
          <p:cNvPr id="69" name="Shape 69"/>
          <p:cNvSpPr txBox="1"/>
          <p:nvPr/>
        </p:nvSpPr>
        <p:spPr>
          <a:xfrm>
            <a:off x="4069080" y="4389120"/>
            <a:ext cx="2560320" cy="111556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0" name="Shape 70"/>
          <p:cNvSpPr txBox="1"/>
          <p:nvPr/>
        </p:nvSpPr>
        <p:spPr>
          <a:xfrm>
            <a:off x="4069080" y="4389120"/>
            <a:ext cx="2560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1" name="Shape 71"/>
          <p:cNvSpPr txBox="1"/>
          <p:nvPr/>
        </p:nvSpPr>
        <p:spPr>
          <a:xfrm>
            <a:off x="4233672" y="4553712"/>
            <a:ext cx="22311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P2 运营结算</a:t>
            </a:r>
            <a:endParaRPr lang="zh-CN" sz="1300"/>
          </a:p>
        </p:txBody>
      </p:sp>
      <p:sp>
        <p:nvSpPr>
          <p:cNvPr id="72" name="Shape 72"/>
          <p:cNvSpPr txBox="1"/>
          <p:nvPr/>
        </p:nvSpPr>
        <p:spPr>
          <a:xfrm>
            <a:off x="4233672" y="4937759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服务计费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起降资源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收入分析</a:t>
            </a:r>
            <a:endParaRPr lang="zh-CN" sz="900"/>
          </a:p>
        </p:txBody>
      </p:sp>
      <p:sp>
        <p:nvSpPr>
          <p:cNvPr id="73" name="Shape 73"/>
          <p:cNvSpPr txBox="1"/>
          <p:nvPr/>
        </p:nvSpPr>
        <p:spPr>
          <a:xfrm>
            <a:off x="6995160" y="4389120"/>
            <a:ext cx="2560320" cy="111556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4" name="Shape 74"/>
          <p:cNvSpPr txBox="1"/>
          <p:nvPr/>
        </p:nvSpPr>
        <p:spPr>
          <a:xfrm>
            <a:off x="6995160" y="4389120"/>
            <a:ext cx="2560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5" name="Shape 75"/>
          <p:cNvSpPr txBox="1"/>
          <p:nvPr/>
        </p:nvSpPr>
        <p:spPr>
          <a:xfrm>
            <a:off x="7159752" y="4553712"/>
            <a:ext cx="22311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P2 开放生态</a:t>
            </a:r>
            <a:endParaRPr lang="zh-CN" sz="1300"/>
          </a:p>
        </p:txBody>
      </p:sp>
      <p:sp>
        <p:nvSpPr>
          <p:cNvPr id="76" name="Shape 76"/>
          <p:cNvSpPr txBox="1"/>
          <p:nvPr/>
        </p:nvSpPr>
        <p:spPr>
          <a:xfrm>
            <a:off x="7159752" y="4937759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API/SDK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插件应用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跨城市模板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四维空域与数字孪生底座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核心不是建一个好看的城市模型，而是形成可计算、可调度、可审计的低空时空资源。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TWIN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11/18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777240" y="1143000"/>
            <a:ext cx="4754880" cy="440740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1051560" y="1472184"/>
            <a:ext cx="73152" cy="256032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1197863" y="14447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四维空域表达</a:t>
            </a:r>
            <a:endParaRPr lang="zh-CN" sz="1400"/>
          </a:p>
        </p:txBody>
      </p:sp>
      <p:sp>
        <p:nvSpPr>
          <p:cNvPr id="28" name="Shape 28"/>
          <p:cNvSpPr txBox="1"/>
          <p:nvPr/>
        </p:nvSpPr>
        <p:spPr>
          <a:xfrm>
            <a:off x="1234440" y="2029968"/>
            <a:ext cx="3611880" cy="4572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1481328" y="2615184"/>
            <a:ext cx="36118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1234440" y="3200400"/>
            <a:ext cx="3611880" cy="4572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1481328" y="3785615"/>
            <a:ext cx="36118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1234440" y="4370832"/>
            <a:ext cx="3611880" cy="4572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3" name="Shape 33"/>
          <p:cNvSpPr txBox="1"/>
          <p:nvPr/>
        </p:nvSpPr>
        <p:spPr>
          <a:xfrm>
            <a:off x="1965960" y="1938528"/>
            <a:ext cx="164592" cy="16459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3246120" y="2523744"/>
            <a:ext cx="164592" cy="16459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3931920" y="3108960"/>
            <a:ext cx="164592" cy="164592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6" name="Shape 36"/>
          <p:cNvSpPr txBox="1"/>
          <p:nvPr/>
        </p:nvSpPr>
        <p:spPr>
          <a:xfrm>
            <a:off x="2514600" y="3694176"/>
            <a:ext cx="164592" cy="16459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7" name="Shape 37"/>
          <p:cNvSpPr txBox="1"/>
          <p:nvPr/>
        </p:nvSpPr>
        <p:spPr>
          <a:xfrm>
            <a:off x="1097280" y="487375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D21F"/>
                </a:solidFill>
                <a:latin typeface="Microsoft YaHei"/>
                <a:ea typeface="Microsoft YaHei"/>
              </a:rPr>
              <a:t>空间 + 高度 + 时间 + 规则</a:t>
            </a:r>
            <a:endParaRPr lang="zh-CN" sz="1300"/>
          </a:p>
        </p:txBody>
      </p:sp>
      <p:sp>
        <p:nvSpPr>
          <p:cNvPr id="38" name="Shape 38"/>
          <p:cNvSpPr txBox="1"/>
          <p:nvPr/>
        </p:nvSpPr>
        <p:spPr>
          <a:xfrm>
            <a:off x="5897880" y="1143000"/>
            <a:ext cx="5440680" cy="440740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6172200" y="1472184"/>
            <a:ext cx="73152" cy="256032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0" name="Shape 40"/>
          <p:cNvSpPr txBox="1"/>
          <p:nvPr/>
        </p:nvSpPr>
        <p:spPr>
          <a:xfrm>
            <a:off x="6318504" y="14447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底座能力清单</a:t>
            </a:r>
            <a:endParaRPr lang="zh-CN" sz="1400"/>
          </a:p>
        </p:txBody>
      </p:sp>
      <p:sp>
        <p:nvSpPr>
          <p:cNvPr id="41" name="Shape 41"/>
          <p:cNvSpPr txBox="1"/>
          <p:nvPr/>
        </p:nvSpPr>
        <p:spPr>
          <a:xfrm>
            <a:off x="6172200" y="1938528"/>
            <a:ext cx="457200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多源空间数据：地形、影像、建筑、道路、障碍物、CIM/BIM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低空专题图层：禁限飞区、适飞区、临时管制区、电子围栏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动态实体映射：无人机、机库、传感器、气象站、反制设备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环境要素叠加：微气象、风场、能见度、电磁、通信覆盖</a:t>
            </a:r>
            <a:endParaRPr lang="zh-CN" sz="1100"/>
          </a:p>
          <a:p>
            <a:pPr algn="l" marL="137160" indent="-100584">
              <a:buChar char="•"/>
            </a:pPr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规则与仿真引擎：冲突检测、容量评估、航线优化、回放复盘</a:t>
            </a:r>
            <a:endParaRPr lang="zh-CN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数据与接口体系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接口能力决定平台能否从单点系统升级为低空数字基础设施。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DATA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12/18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3931920" y="2331720"/>
            <a:ext cx="4206240" cy="960120"/>
          </a:xfrm>
          <a:prstGeom prst="round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4251960" y="263347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600" b="1">
                <a:solidFill>
                  <a:srgbClr val="0B0D10"/>
                </a:solidFill>
                <a:latin typeface="Microsoft YaHei"/>
                <a:ea typeface="Microsoft YaHei"/>
              </a:rPr>
              <a:t>低空数字孪生与运行服务平台</a:t>
            </a:r>
            <a:endParaRPr lang="zh-CN" sz="1600"/>
          </a:p>
        </p:txBody>
      </p:sp>
      <p:sp>
        <p:nvSpPr>
          <p:cNvPr id="27" name="Shape 27"/>
          <p:cNvSpPr txBox="1"/>
          <p:nvPr/>
        </p:nvSpPr>
        <p:spPr>
          <a:xfrm>
            <a:off x="685800" y="987552"/>
            <a:ext cx="2331720" cy="123444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685800" y="98755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850392" y="1152144"/>
            <a:ext cx="20025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监管接口</a:t>
            </a:r>
            <a:endParaRPr lang="zh-CN" sz="1300"/>
          </a:p>
        </p:txBody>
      </p:sp>
      <p:sp>
        <p:nvSpPr>
          <p:cNvPr id="30" name="Shape 30"/>
          <p:cNvSpPr txBox="1"/>
          <p:nvPr/>
        </p:nvSpPr>
        <p:spPr>
          <a:xfrm>
            <a:off x="850392" y="1536192"/>
            <a:ext cx="2002536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UOM/USS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实名登记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飞行计划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运行事件</a:t>
            </a:r>
            <a:endParaRPr lang="zh-CN" sz="900"/>
          </a:p>
        </p:txBody>
      </p:sp>
      <p:sp>
        <p:nvSpPr>
          <p:cNvPr id="31" name="Shape 31"/>
          <p:cNvSpPr txBox="1"/>
          <p:nvPr/>
        </p:nvSpPr>
        <p:spPr>
          <a:xfrm>
            <a:off x="685800" y="3794760"/>
            <a:ext cx="2331720" cy="123444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685800" y="3794760"/>
            <a:ext cx="2331720" cy="5486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3" name="Shape 33"/>
          <p:cNvSpPr txBox="1"/>
          <p:nvPr/>
        </p:nvSpPr>
        <p:spPr>
          <a:xfrm>
            <a:off x="850392" y="3959352"/>
            <a:ext cx="20025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空间数据</a:t>
            </a:r>
            <a:endParaRPr lang="zh-CN" sz="1300"/>
          </a:p>
        </p:txBody>
      </p:sp>
      <p:sp>
        <p:nvSpPr>
          <p:cNvPr id="34" name="Shape 34"/>
          <p:cNvSpPr txBox="1"/>
          <p:nvPr/>
        </p:nvSpPr>
        <p:spPr>
          <a:xfrm>
            <a:off x="850392" y="4343400"/>
            <a:ext cx="2002536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GIS/CIM/BIM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影像地形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障碍物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基础设施</a:t>
            </a:r>
            <a:endParaRPr lang="zh-CN" sz="900"/>
          </a:p>
        </p:txBody>
      </p:sp>
      <p:sp>
        <p:nvSpPr>
          <p:cNvPr id="35" name="Shape 35"/>
          <p:cNvSpPr txBox="1"/>
          <p:nvPr/>
        </p:nvSpPr>
        <p:spPr>
          <a:xfrm>
            <a:off x="4572000" y="4343400"/>
            <a:ext cx="2331720" cy="111556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6" name="Shape 36"/>
          <p:cNvSpPr txBox="1"/>
          <p:nvPr/>
        </p:nvSpPr>
        <p:spPr>
          <a:xfrm>
            <a:off x="4572000" y="4343400"/>
            <a:ext cx="23317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7" name="Shape 37"/>
          <p:cNvSpPr txBox="1"/>
          <p:nvPr/>
        </p:nvSpPr>
        <p:spPr>
          <a:xfrm>
            <a:off x="4736592" y="4507992"/>
            <a:ext cx="20025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环境数据</a:t>
            </a:r>
            <a:endParaRPr lang="zh-CN" sz="1300"/>
          </a:p>
        </p:txBody>
      </p:sp>
      <p:sp>
        <p:nvSpPr>
          <p:cNvPr id="38" name="Shape 38"/>
          <p:cNvSpPr txBox="1"/>
          <p:nvPr/>
        </p:nvSpPr>
        <p:spPr>
          <a:xfrm>
            <a:off x="4736592" y="4892040"/>
            <a:ext cx="20025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气象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风场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电磁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通信覆盖</a:t>
            </a:r>
            <a:endParaRPr lang="zh-CN" sz="900"/>
          </a:p>
        </p:txBody>
      </p:sp>
      <p:sp>
        <p:nvSpPr>
          <p:cNvPr id="39" name="Shape 39"/>
          <p:cNvSpPr txBox="1"/>
          <p:nvPr/>
        </p:nvSpPr>
        <p:spPr>
          <a:xfrm>
            <a:off x="9098280" y="3794760"/>
            <a:ext cx="2331720" cy="123444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0" name="Shape 40"/>
          <p:cNvSpPr txBox="1"/>
          <p:nvPr/>
        </p:nvSpPr>
        <p:spPr>
          <a:xfrm>
            <a:off x="9098280" y="3794760"/>
            <a:ext cx="2331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1" name="Shape 41"/>
          <p:cNvSpPr txBox="1"/>
          <p:nvPr/>
        </p:nvSpPr>
        <p:spPr>
          <a:xfrm>
            <a:off x="9262872" y="3959352"/>
            <a:ext cx="20025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设备接入</a:t>
            </a:r>
            <a:endParaRPr lang="zh-CN" sz="1300"/>
          </a:p>
        </p:txBody>
      </p:sp>
      <p:sp>
        <p:nvSpPr>
          <p:cNvPr id="42" name="Shape 42"/>
          <p:cNvSpPr txBox="1"/>
          <p:nvPr/>
        </p:nvSpPr>
        <p:spPr>
          <a:xfrm>
            <a:off x="9262872" y="4343400"/>
            <a:ext cx="2002536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无人机/机库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雷达/光电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Remote ID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5G-A 通感</a:t>
            </a:r>
            <a:endParaRPr lang="zh-CN" sz="900"/>
          </a:p>
        </p:txBody>
      </p:sp>
      <p:sp>
        <p:nvSpPr>
          <p:cNvPr id="43" name="Shape 43"/>
          <p:cNvSpPr txBox="1"/>
          <p:nvPr/>
        </p:nvSpPr>
        <p:spPr>
          <a:xfrm>
            <a:off x="9098280" y="987552"/>
            <a:ext cx="2331720" cy="123444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4" name="Shape 44"/>
          <p:cNvSpPr txBox="1"/>
          <p:nvPr/>
        </p:nvSpPr>
        <p:spPr>
          <a:xfrm>
            <a:off x="9098280" y="987552"/>
            <a:ext cx="2331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5" name="Shape 45"/>
          <p:cNvSpPr txBox="1"/>
          <p:nvPr/>
        </p:nvSpPr>
        <p:spPr>
          <a:xfrm>
            <a:off x="9262872" y="1152144"/>
            <a:ext cx="20025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业务系统</a:t>
            </a:r>
            <a:endParaRPr lang="zh-CN" sz="1300"/>
          </a:p>
        </p:txBody>
      </p:sp>
      <p:sp>
        <p:nvSpPr>
          <p:cNvPr id="46" name="Shape 46"/>
          <p:cNvSpPr txBox="1"/>
          <p:nvPr/>
        </p:nvSpPr>
        <p:spPr>
          <a:xfrm>
            <a:off x="9262872" y="1536192"/>
            <a:ext cx="2002536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应急/公安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城管/交通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行业工单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支付结算</a:t>
            </a:r>
            <a:endParaRPr lang="zh-CN" sz="900"/>
          </a:p>
        </p:txBody>
      </p:sp>
      <p:sp>
        <p:nvSpPr>
          <p:cNvPr id="47" name="Shape 47"/>
          <p:cNvSpPr txBox="1"/>
          <p:nvPr/>
        </p:nvSpPr>
        <p:spPr>
          <a:xfrm>
            <a:off x="4069080" y="3566160"/>
            <a:ext cx="3931920" cy="41148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8" name="Shape 48"/>
          <p:cNvSpPr txBox="1"/>
          <p:nvPr/>
        </p:nvSpPr>
        <p:spPr>
          <a:xfrm>
            <a:off x="4297680" y="3694176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E5E7EB"/>
                </a:solidFill>
                <a:latin typeface="Microsoft YaHei"/>
                <a:ea typeface="Microsoft YaHei"/>
              </a:rPr>
              <a:t>统一身份、统一时空基准、统一规则、统一审计</a:t>
            </a:r>
            <a:endParaRPr lang="zh-CN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一期 MVP 建设范围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一期不贪大，优先建立可演示、可试运行、可验收的低空运行最小闭环。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ROADMAP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13/18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713232" y="1143000"/>
            <a:ext cx="3337560" cy="4251960"/>
          </a:xfrm>
          <a:prstGeom prst="roundRect">
            <a:avLst/>
          </a:prstGeom>
          <a:solidFill>
            <a:srgbClr val="151922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987552" y="1472184"/>
            <a:ext cx="73152" cy="256032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1133856" y="14447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基础底座</a:t>
            </a:r>
            <a:endParaRPr lang="zh-CN" sz="1400"/>
          </a:p>
        </p:txBody>
      </p:sp>
      <p:sp>
        <p:nvSpPr>
          <p:cNvPr id="28" name="Shape 28"/>
          <p:cNvSpPr txBox="1"/>
          <p:nvPr/>
        </p:nvSpPr>
        <p:spPr>
          <a:xfrm>
            <a:off x="987552" y="1965960"/>
            <a:ext cx="256032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低空一张图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空域/航线/起降点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主体与航空器台账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基础数据导入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无人机/机库接入</a:t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4434840" y="1143000"/>
            <a:ext cx="3337560" cy="4251960"/>
          </a:xfrm>
          <a:prstGeom prst="roundRect">
            <a:avLst/>
          </a:prstGeom>
          <a:solidFill>
            <a:srgbClr val="151922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4709160" y="1472184"/>
            <a:ext cx="73152" cy="256032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4855464" y="14447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业务闭环</a:t>
            </a:r>
            <a:endParaRPr lang="zh-CN" sz="1400"/>
          </a:p>
        </p:txBody>
      </p:sp>
      <p:sp>
        <p:nvSpPr>
          <p:cNvPr id="32" name="Shape 32"/>
          <p:cNvSpPr txBox="1"/>
          <p:nvPr/>
        </p:nvSpPr>
        <p:spPr>
          <a:xfrm>
            <a:off x="4709160" y="1965960"/>
            <a:ext cx="256032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飞行计划申报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审批流程配置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航线规划与风险校验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实时航迹监控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告警处置与复盘</a:t>
            </a:r>
            <a:endParaRPr lang="zh-CN" sz="1200"/>
          </a:p>
        </p:txBody>
      </p:sp>
      <p:sp>
        <p:nvSpPr>
          <p:cNvPr id="33" name="Shape 33"/>
          <p:cNvSpPr txBox="1"/>
          <p:nvPr/>
        </p:nvSpPr>
        <p:spPr>
          <a:xfrm>
            <a:off x="8156448" y="1143000"/>
            <a:ext cx="3063240" cy="4251960"/>
          </a:xfrm>
          <a:prstGeom prst="roundRect">
            <a:avLst/>
          </a:prstGeom>
          <a:solidFill>
            <a:srgbClr val="151922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8430768" y="1472184"/>
            <a:ext cx="73152" cy="256032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8577072" y="14447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400" b="1">
                <a:solidFill>
                  <a:srgbClr val="E5E7EB"/>
                </a:solidFill>
                <a:latin typeface="Microsoft YaHei"/>
                <a:ea typeface="Microsoft YaHei"/>
              </a:rPr>
              <a:t>验收指标</a:t>
            </a:r>
            <a:endParaRPr lang="zh-CN" sz="1400"/>
          </a:p>
        </p:txBody>
      </p:sp>
      <p:sp>
        <p:nvSpPr>
          <p:cNvPr id="36" name="Shape 36"/>
          <p:cNvSpPr txBox="1"/>
          <p:nvPr/>
        </p:nvSpPr>
        <p:spPr>
          <a:xfrm>
            <a:off x="8430768" y="1965960"/>
            <a:ext cx="228600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计划可追溯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审批可留痕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航迹可回放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越界/超高/偏航可告警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运行统计可输出</a:t>
            </a:r>
            <a:endParaRPr lang="zh-CN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二三期演进路线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从最小闭环逐步演进为城市级运行服务和产业运营平台。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ROADMAP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14/18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685800" y="1508760"/>
            <a:ext cx="3108960" cy="3337560"/>
          </a:xfrm>
          <a:prstGeom prst="roundRect">
            <a:avLst/>
          </a:prstGeom>
          <a:solidFill>
            <a:srgbClr val="151922"/>
          </a:solidFill>
          <a:ln w="19050">
            <a:solidFill>
              <a:srgbClr val="FFD21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960120" y="181051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600" b="1">
                <a:solidFill>
                  <a:srgbClr val="FFD21F"/>
                </a:solidFill>
                <a:latin typeface="Microsoft YaHei"/>
                <a:ea typeface="Microsoft YaHei"/>
              </a:rPr>
              <a:t>一期：闭环可用</a:t>
            </a:r>
            <a:endParaRPr lang="zh-CN" sz="1600"/>
          </a:p>
        </p:txBody>
      </p:sp>
      <p:sp>
        <p:nvSpPr>
          <p:cNvPr id="27" name="Shape 27"/>
          <p:cNvSpPr txBox="1"/>
          <p:nvPr/>
        </p:nvSpPr>
        <p:spPr>
          <a:xfrm>
            <a:off x="960120" y="233172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一张图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计划申报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审批协同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实时监控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告警处置</a:t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4526280" y="1508760"/>
            <a:ext cx="3108960" cy="3337560"/>
          </a:xfrm>
          <a:prstGeom prst="roundRect">
            <a:avLst/>
          </a:prstGeom>
          <a:solidFill>
            <a:srgbClr val="151922"/>
          </a:solidFill>
          <a:ln w="19050">
            <a:solidFill>
              <a:srgbClr val="00E5FF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4800600" y="181051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600" b="1">
                <a:solidFill>
                  <a:srgbClr val="00E5FF"/>
                </a:solidFill>
                <a:latin typeface="Microsoft YaHei"/>
                <a:ea typeface="Microsoft YaHei"/>
              </a:rPr>
              <a:t>二期：能力增强</a:t>
            </a:r>
            <a:endParaRPr lang="zh-CN" sz="1600"/>
          </a:p>
        </p:txBody>
      </p:sp>
      <p:sp>
        <p:nvSpPr>
          <p:cNvPr id="30" name="Shape 30"/>
          <p:cNvSpPr txBox="1"/>
          <p:nvPr/>
        </p:nvSpPr>
        <p:spPr>
          <a:xfrm>
            <a:off x="4800600" y="233172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四维空域网格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容量评估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多源感知融合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应急指挥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设施选址仿真</a:t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8366760" y="1508760"/>
            <a:ext cx="3108960" cy="3337560"/>
          </a:xfrm>
          <a:prstGeom prst="roundRect">
            <a:avLst/>
          </a:prstGeom>
          <a:solidFill>
            <a:srgbClr val="151922"/>
          </a:solidFill>
          <a:ln w="19050">
            <a:solidFill>
              <a:srgbClr val="22C55E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8641080" y="181051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600" b="1">
                <a:solidFill>
                  <a:srgbClr val="22C55E"/>
                </a:solidFill>
                <a:latin typeface="Microsoft YaHei"/>
                <a:ea typeface="Microsoft YaHei"/>
              </a:rPr>
              <a:t>三期：运营生态</a:t>
            </a:r>
            <a:endParaRPr lang="zh-CN" sz="1600"/>
          </a:p>
        </p:txBody>
      </p:sp>
      <p:sp>
        <p:nvSpPr>
          <p:cNvPr id="33" name="Shape 33"/>
          <p:cNvSpPr txBox="1"/>
          <p:nvPr/>
        </p:nvSpPr>
        <p:spPr>
          <a:xfrm>
            <a:off x="8641080" y="233172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AI 航线优化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计费结算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开放 API/SDK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行业应用市场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跨城市复制</a:t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685800" y="5303520"/>
            <a:ext cx="10789920" cy="50292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960120" y="5468112"/>
            <a:ext cx="10241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FFD21F"/>
                </a:solidFill>
                <a:latin typeface="Microsoft YaHei"/>
                <a:ea typeface="Microsoft YaHei"/>
              </a:rPr>
              <a:t>阶段策略：先服务监管刚需，再提高运行效率，最后形成平台运营收入和生态扩展能力。</a:t>
            </a:r>
            <a:endParaRPr lang="zh-CN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关键指标与建设价值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建议用安全、效率、运行、稳定、运营、数据六类指标衡量建设成效。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VALUE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15/18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685800" y="107899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832104" y="119786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安全</a:t>
            </a:r>
            <a:endParaRPr lang="zh-CN" sz="800"/>
          </a:p>
        </p:txBody>
      </p:sp>
      <p:sp>
        <p:nvSpPr>
          <p:cNvPr id="27" name="Shape 27"/>
          <p:cNvSpPr txBox="1"/>
          <p:nvPr/>
        </p:nvSpPr>
        <p:spPr>
          <a:xfrm>
            <a:off x="832104" y="142646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EF4444"/>
                </a:solidFill>
                <a:latin typeface="Microsoft YaHei"/>
                <a:ea typeface="Microsoft YaHei"/>
              </a:rPr>
              <a:t>冲突预警</a:t>
            </a:r>
            <a:endParaRPr lang="zh-CN" sz="1800"/>
          </a:p>
        </p:txBody>
      </p:sp>
      <p:sp>
        <p:nvSpPr>
          <p:cNvPr id="28" name="Shape 28"/>
          <p:cNvSpPr txBox="1"/>
          <p:nvPr/>
        </p:nvSpPr>
        <p:spPr>
          <a:xfrm>
            <a:off x="832104" y="176479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越界、黑飞、事件闭环</a:t>
            </a:r>
            <a:endParaRPr lang="zh-CN" sz="700"/>
          </a:p>
        </p:txBody>
      </p:sp>
      <p:sp>
        <p:nvSpPr>
          <p:cNvPr id="29" name="Shape 29"/>
          <p:cNvSpPr txBox="1"/>
          <p:nvPr/>
        </p:nvSpPr>
        <p:spPr>
          <a:xfrm>
            <a:off x="2971800" y="107899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3118104" y="119786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效率</a:t>
            </a:r>
            <a:endParaRPr lang="zh-CN" sz="800"/>
          </a:p>
        </p:txBody>
      </p:sp>
      <p:sp>
        <p:nvSpPr>
          <p:cNvPr id="31" name="Shape 31"/>
          <p:cNvSpPr txBox="1"/>
          <p:nvPr/>
        </p:nvSpPr>
        <p:spPr>
          <a:xfrm>
            <a:off x="3118104" y="142646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FFD21F"/>
                </a:solidFill>
                <a:latin typeface="Microsoft YaHei"/>
                <a:ea typeface="Microsoft YaHei"/>
              </a:rPr>
              <a:t>审批提速</a:t>
            </a:r>
            <a:endParaRPr lang="zh-CN" sz="1800"/>
          </a:p>
        </p:txBody>
      </p:sp>
      <p:sp>
        <p:nvSpPr>
          <p:cNvPr id="32" name="Shape 32"/>
          <p:cNvSpPr txBox="1"/>
          <p:nvPr/>
        </p:nvSpPr>
        <p:spPr>
          <a:xfrm>
            <a:off x="3118104" y="176479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动态放行、航线校验</a:t>
            </a:r>
            <a:endParaRPr lang="zh-CN" sz="700"/>
          </a:p>
        </p:txBody>
      </p:sp>
      <p:sp>
        <p:nvSpPr>
          <p:cNvPr id="33" name="Shape 33"/>
          <p:cNvSpPr txBox="1"/>
          <p:nvPr/>
        </p:nvSpPr>
        <p:spPr>
          <a:xfrm>
            <a:off x="5257800" y="107899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5404104" y="119786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运行</a:t>
            </a:r>
            <a:endParaRPr lang="zh-CN" sz="800"/>
          </a:p>
        </p:txBody>
      </p:sp>
      <p:sp>
        <p:nvSpPr>
          <p:cNvPr id="35" name="Shape 35"/>
          <p:cNvSpPr txBox="1"/>
          <p:nvPr/>
        </p:nvSpPr>
        <p:spPr>
          <a:xfrm>
            <a:off x="5404104" y="142646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00E5FF"/>
                </a:solidFill>
                <a:latin typeface="Microsoft YaHei"/>
                <a:ea typeface="Microsoft YaHei"/>
              </a:rPr>
              <a:t>容量可算</a:t>
            </a:r>
            <a:endParaRPr lang="zh-CN" sz="1800"/>
          </a:p>
        </p:txBody>
      </p:sp>
      <p:sp>
        <p:nvSpPr>
          <p:cNvPr id="36" name="Shape 36"/>
          <p:cNvSpPr txBox="1"/>
          <p:nvPr/>
        </p:nvSpPr>
        <p:spPr>
          <a:xfrm>
            <a:off x="5404104" y="176479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空域、航路、起降点</a:t>
            </a:r>
            <a:endParaRPr lang="zh-CN" sz="700"/>
          </a:p>
        </p:txBody>
      </p:sp>
      <p:sp>
        <p:nvSpPr>
          <p:cNvPr id="37" name="Shape 37"/>
          <p:cNvSpPr txBox="1"/>
          <p:nvPr/>
        </p:nvSpPr>
        <p:spPr>
          <a:xfrm>
            <a:off x="7543800" y="107899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8" name="Shape 38"/>
          <p:cNvSpPr txBox="1"/>
          <p:nvPr/>
        </p:nvSpPr>
        <p:spPr>
          <a:xfrm>
            <a:off x="7690104" y="119786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稳定</a:t>
            </a:r>
            <a:endParaRPr lang="zh-CN" sz="800"/>
          </a:p>
        </p:txBody>
      </p:sp>
      <p:sp>
        <p:nvSpPr>
          <p:cNvPr id="39" name="Shape 39"/>
          <p:cNvSpPr txBox="1"/>
          <p:nvPr/>
        </p:nvSpPr>
        <p:spPr>
          <a:xfrm>
            <a:off x="7690104" y="142646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22C55E"/>
                </a:solidFill>
                <a:latin typeface="Microsoft YaHei"/>
                <a:ea typeface="Microsoft YaHei"/>
              </a:rPr>
              <a:t>7x24</a:t>
            </a:r>
            <a:endParaRPr lang="zh-CN" sz="1800"/>
          </a:p>
        </p:txBody>
      </p:sp>
      <p:sp>
        <p:nvSpPr>
          <p:cNvPr id="40" name="Shape 40"/>
          <p:cNvSpPr txBox="1"/>
          <p:nvPr/>
        </p:nvSpPr>
        <p:spPr>
          <a:xfrm>
            <a:off x="7690104" y="176479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核心运行监控高可用</a:t>
            </a:r>
            <a:endParaRPr lang="zh-CN" sz="700"/>
          </a:p>
        </p:txBody>
      </p:sp>
      <p:sp>
        <p:nvSpPr>
          <p:cNvPr id="41" name="Shape 41"/>
          <p:cNvSpPr txBox="1"/>
          <p:nvPr/>
        </p:nvSpPr>
        <p:spPr>
          <a:xfrm>
            <a:off x="9829800" y="1078992"/>
            <a:ext cx="2148840" cy="950976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2" name="Shape 42"/>
          <p:cNvSpPr txBox="1"/>
          <p:nvPr/>
        </p:nvSpPr>
        <p:spPr>
          <a:xfrm>
            <a:off x="9976104" y="1197864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运营</a:t>
            </a:r>
            <a:endParaRPr lang="zh-CN" sz="800"/>
          </a:p>
        </p:txBody>
      </p:sp>
      <p:sp>
        <p:nvSpPr>
          <p:cNvPr id="43" name="Shape 43"/>
          <p:cNvSpPr txBox="1"/>
          <p:nvPr/>
        </p:nvSpPr>
        <p:spPr>
          <a:xfrm>
            <a:off x="9976104" y="1426464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800" b="1">
                <a:solidFill>
                  <a:srgbClr val="F59E0B"/>
                </a:solidFill>
                <a:latin typeface="Microsoft YaHei"/>
                <a:ea typeface="Microsoft YaHei"/>
              </a:rPr>
              <a:t>收入闭环</a:t>
            </a:r>
            <a:endParaRPr lang="zh-CN" sz="1800"/>
          </a:p>
        </p:txBody>
      </p:sp>
      <p:sp>
        <p:nvSpPr>
          <p:cNvPr id="44" name="Shape 44"/>
          <p:cNvSpPr txBox="1"/>
          <p:nvPr/>
        </p:nvSpPr>
        <p:spPr>
          <a:xfrm>
            <a:off x="9976104" y="1764792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700">
                <a:solidFill>
                  <a:srgbClr val="94A3B8"/>
                </a:solidFill>
                <a:latin typeface="Microsoft YaHei"/>
                <a:ea typeface="Microsoft YaHei"/>
              </a:rPr>
              <a:t>服务费、起降费、场景收入</a:t>
            </a:r>
            <a:endParaRPr lang="zh-CN" sz="700"/>
          </a:p>
        </p:txBody>
      </p:sp>
      <p:sp>
        <p:nvSpPr>
          <p:cNvPr id="45" name="Shape 45"/>
          <p:cNvSpPr txBox="1"/>
          <p:nvPr/>
        </p:nvSpPr>
        <p:spPr>
          <a:xfrm>
            <a:off x="868680" y="2743200"/>
            <a:ext cx="10424160" cy="2304288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6" name="Shape 46"/>
          <p:cNvSpPr txBox="1"/>
          <p:nvPr/>
        </p:nvSpPr>
        <p:spPr>
          <a:xfrm>
            <a:off x="1143000" y="3035808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从“项目验收”转向“持续运营”的指标体系</a:t>
            </a:r>
            <a:endParaRPr lang="zh-CN" sz="1600"/>
          </a:p>
        </p:txBody>
      </p:sp>
      <p:sp>
        <p:nvSpPr>
          <p:cNvPr id="47" name="Shape 47"/>
          <p:cNvSpPr txBox="1"/>
          <p:nvPr/>
        </p:nvSpPr>
        <p:spPr>
          <a:xfrm>
            <a:off x="1371600" y="3657600"/>
            <a:ext cx="1828800" cy="1463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8" name="Shape 48"/>
          <p:cNvSpPr txBox="1"/>
          <p:nvPr/>
        </p:nvSpPr>
        <p:spPr>
          <a:xfrm>
            <a:off x="3429000" y="3657600"/>
            <a:ext cx="1828800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9" name="Shape 49"/>
          <p:cNvSpPr txBox="1"/>
          <p:nvPr/>
        </p:nvSpPr>
        <p:spPr>
          <a:xfrm>
            <a:off x="5486400" y="3657600"/>
            <a:ext cx="1828800" cy="14630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0" name="Shape 50"/>
          <p:cNvSpPr txBox="1"/>
          <p:nvPr/>
        </p:nvSpPr>
        <p:spPr>
          <a:xfrm>
            <a:off x="7543800" y="3657600"/>
            <a:ext cx="1828800" cy="1463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1" name="Shape 51"/>
          <p:cNvSpPr txBox="1"/>
          <p:nvPr/>
        </p:nvSpPr>
        <p:spPr>
          <a:xfrm>
            <a:off x="1097280" y="40050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200" b="1">
                <a:solidFill>
                  <a:srgbClr val="E5E7EB"/>
                </a:solidFill>
                <a:latin typeface="Microsoft YaHei"/>
                <a:ea typeface="Microsoft YaHei"/>
              </a:rPr>
              <a:t>安全可控</a:t>
            </a:r>
            <a:endParaRPr lang="zh-CN" sz="1200"/>
          </a:p>
        </p:txBody>
      </p:sp>
      <p:sp>
        <p:nvSpPr>
          <p:cNvPr id="52" name="Shape 52"/>
          <p:cNvSpPr txBox="1"/>
          <p:nvPr/>
        </p:nvSpPr>
        <p:spPr>
          <a:xfrm>
            <a:off x="3154680" y="40050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200" b="1">
                <a:solidFill>
                  <a:srgbClr val="E5E7EB"/>
                </a:solidFill>
                <a:latin typeface="Microsoft YaHei"/>
                <a:ea typeface="Microsoft YaHei"/>
              </a:rPr>
              <a:t>效率提升</a:t>
            </a:r>
            <a:endParaRPr lang="zh-CN" sz="1200"/>
          </a:p>
        </p:txBody>
      </p:sp>
      <p:sp>
        <p:nvSpPr>
          <p:cNvPr id="53" name="Shape 53"/>
          <p:cNvSpPr txBox="1"/>
          <p:nvPr/>
        </p:nvSpPr>
        <p:spPr>
          <a:xfrm>
            <a:off x="5212080" y="40050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200" b="1">
                <a:solidFill>
                  <a:srgbClr val="E5E7EB"/>
                </a:solidFill>
                <a:latin typeface="Microsoft YaHei"/>
                <a:ea typeface="Microsoft YaHei"/>
              </a:rPr>
              <a:t>资源优化</a:t>
            </a:r>
            <a:endParaRPr lang="zh-CN" sz="1200"/>
          </a:p>
        </p:txBody>
      </p:sp>
      <p:sp>
        <p:nvSpPr>
          <p:cNvPr id="54" name="Shape 54"/>
          <p:cNvSpPr txBox="1"/>
          <p:nvPr/>
        </p:nvSpPr>
        <p:spPr>
          <a:xfrm>
            <a:off x="7269480" y="40050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200" b="1">
                <a:solidFill>
                  <a:srgbClr val="E5E7EB"/>
                </a:solidFill>
                <a:latin typeface="Microsoft YaHei"/>
                <a:ea typeface="Microsoft YaHei"/>
              </a:rPr>
              <a:t>商业闭环</a:t>
            </a:r>
            <a:endParaRPr lang="zh-CN" sz="1200"/>
          </a:p>
        </p:txBody>
      </p:sp>
      <p:sp>
        <p:nvSpPr>
          <p:cNvPr id="55" name="Shape 55"/>
          <p:cNvSpPr txBox="1"/>
          <p:nvPr/>
        </p:nvSpPr>
        <p:spPr>
          <a:xfrm>
            <a:off x="868680" y="5440680"/>
            <a:ext cx="10424160" cy="438912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6" name="Shape 56"/>
          <p:cNvSpPr txBox="1"/>
          <p:nvPr/>
        </p:nvSpPr>
        <p:spPr>
          <a:xfrm>
            <a:off x="1143000" y="5577840"/>
            <a:ext cx="9875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00" b="1">
                <a:solidFill>
                  <a:srgbClr val="FFD21F"/>
                </a:solidFill>
                <a:latin typeface="Microsoft YaHei"/>
                <a:ea typeface="Microsoft YaHei"/>
              </a:rPr>
              <a:t>最终目标：形成可持续运行的低空基础设施，而非一次性交付的信息化项目。</a:t>
            </a:r>
            <a:endParaRPr lang="zh-CN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风险与保障措施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低空平台主要风险来自监管变化、数据质量、设备碎片化和实时工程性能。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RISK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16/18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594360" y="1143000"/>
            <a:ext cx="2651760" cy="342900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594360" y="11430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758952" y="1307592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监管接口变化</a:t>
            </a:r>
            <a:endParaRPr lang="zh-CN" sz="1300"/>
          </a:p>
        </p:txBody>
      </p:sp>
      <p:sp>
        <p:nvSpPr>
          <p:cNvPr id="28" name="Shape 28"/>
          <p:cNvSpPr txBox="1"/>
          <p:nvPr/>
        </p:nvSpPr>
        <p:spPr>
          <a:xfrm>
            <a:off x="758952" y="1691640"/>
            <a:ext cx="2322576" cy="2770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接口适配层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字段映射和版本管理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人工补录与审核兜底</a:t>
            </a:r>
            <a:endParaRPr lang="zh-CN" sz="900"/>
          </a:p>
        </p:txBody>
      </p:sp>
      <p:sp>
        <p:nvSpPr>
          <p:cNvPr id="29" name="Shape 29"/>
          <p:cNvSpPr txBox="1"/>
          <p:nvPr/>
        </p:nvSpPr>
        <p:spPr>
          <a:xfrm>
            <a:off x="3520440" y="1143000"/>
            <a:ext cx="2651760" cy="342900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3520440" y="114300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3685032" y="1307592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数据质量不足</a:t>
            </a:r>
            <a:endParaRPr lang="zh-CN" sz="1300"/>
          </a:p>
        </p:txBody>
      </p:sp>
      <p:sp>
        <p:nvSpPr>
          <p:cNvPr id="32" name="Shape 32"/>
          <p:cNvSpPr txBox="1"/>
          <p:nvPr/>
        </p:nvSpPr>
        <p:spPr>
          <a:xfrm>
            <a:off x="3685032" y="1691640"/>
            <a:ext cx="2322576" cy="2770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关键区域校核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障碍物与航线版本管理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数据质量评分</a:t>
            </a:r>
            <a:endParaRPr lang="zh-CN" sz="900"/>
          </a:p>
        </p:txBody>
      </p:sp>
      <p:sp>
        <p:nvSpPr>
          <p:cNvPr id="33" name="Shape 33"/>
          <p:cNvSpPr txBox="1"/>
          <p:nvPr/>
        </p:nvSpPr>
        <p:spPr>
          <a:xfrm>
            <a:off x="6446520" y="1143000"/>
            <a:ext cx="2651760" cy="342900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4" name="Shape 34"/>
          <p:cNvSpPr txBox="1"/>
          <p:nvPr/>
        </p:nvSpPr>
        <p:spPr>
          <a:xfrm>
            <a:off x="6446520" y="1143000"/>
            <a:ext cx="265176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6611112" y="1307592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设备生态碎片</a:t>
            </a:r>
            <a:endParaRPr lang="zh-CN" sz="1300"/>
          </a:p>
        </p:txBody>
      </p:sp>
      <p:sp>
        <p:nvSpPr>
          <p:cNvPr id="36" name="Shape 36"/>
          <p:cNvSpPr txBox="1"/>
          <p:nvPr/>
        </p:nvSpPr>
        <p:spPr>
          <a:xfrm>
            <a:off x="6611112" y="1691640"/>
            <a:ext cx="2322576" cy="2770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统一接入网关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协议适配器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设备能力画像</a:t>
            </a:r>
            <a:endParaRPr lang="zh-CN" sz="900"/>
          </a:p>
        </p:txBody>
      </p:sp>
      <p:sp>
        <p:nvSpPr>
          <p:cNvPr id="37" name="Shape 37"/>
          <p:cNvSpPr txBox="1"/>
          <p:nvPr/>
        </p:nvSpPr>
        <p:spPr>
          <a:xfrm>
            <a:off x="9372600" y="1143000"/>
            <a:ext cx="2148840" cy="342900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8" name="Shape 38"/>
          <p:cNvSpPr txBox="1"/>
          <p:nvPr/>
        </p:nvSpPr>
        <p:spPr>
          <a:xfrm>
            <a:off x="9372600" y="1143000"/>
            <a:ext cx="2148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9537192" y="130759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 b="1">
                <a:solidFill>
                  <a:srgbClr val="E5E7EB"/>
                </a:solidFill>
                <a:latin typeface="Microsoft YaHei"/>
                <a:ea typeface="Microsoft YaHei"/>
              </a:rPr>
              <a:t>实时性能压力</a:t>
            </a:r>
            <a:endParaRPr lang="zh-CN" sz="1300"/>
          </a:p>
        </p:txBody>
      </p:sp>
      <p:sp>
        <p:nvSpPr>
          <p:cNvPr id="40" name="Shape 40"/>
          <p:cNvSpPr txBox="1"/>
          <p:nvPr/>
        </p:nvSpPr>
        <p:spPr>
          <a:xfrm>
            <a:off x="9537192" y="1691640"/>
            <a:ext cx="1819656" cy="2770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流式处理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空间索引</a:t>
            </a:r>
            <a:endParaRPr lang="zh-CN" sz="900"/>
          </a:p>
          <a:p>
            <a:pPr algn="l" marL="137160" indent="-100584">
              <a:buChar char="•"/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实时/历史拆分</a:t>
            </a:r>
            <a:endParaRPr lang="zh-CN" sz="900"/>
          </a:p>
        </p:txBody>
      </p:sp>
      <p:sp>
        <p:nvSpPr>
          <p:cNvPr id="41" name="Shape 41"/>
          <p:cNvSpPr txBox="1"/>
          <p:nvPr/>
        </p:nvSpPr>
        <p:spPr>
          <a:xfrm>
            <a:off x="594360" y="5120640"/>
            <a:ext cx="10927080" cy="502920"/>
          </a:xfrm>
          <a:prstGeom prst="roundRect">
            <a:avLst/>
          </a:prstGeom>
          <a:solidFill>
            <a:srgbClr val="231818"/>
          </a:solidFill>
          <a:ln w="9525">
            <a:solidFill>
              <a:srgbClr val="513030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2" name="Shape 42"/>
          <p:cNvSpPr txBox="1"/>
          <p:nvPr/>
        </p:nvSpPr>
        <p:spPr>
          <a:xfrm>
            <a:off x="868680" y="5285232"/>
            <a:ext cx="10378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000" b="1">
                <a:solidFill>
                  <a:srgbClr val="FFD21F"/>
                </a:solidFill>
                <a:latin typeface="Microsoft YaHei"/>
                <a:ea typeface="Microsoft YaHei"/>
              </a:rPr>
              <a:t>管理建议：验收口径围绕业务闭环和运行指标设定，避免项目滑向只看大屏效果。</a:t>
            </a:r>
            <a:endParaRPr lang="zh-CN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下一步建议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建议以一个示范区域和两类高价值场景启动，快速形成可看、可用、可验收的样板。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NEXT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17/18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822960" y="1115568"/>
            <a:ext cx="10561320" cy="388620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1188720" y="1572768"/>
            <a:ext cx="310896" cy="310896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1188720" y="2212848"/>
            <a:ext cx="310896" cy="310896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1188720" y="2852928"/>
            <a:ext cx="310896" cy="310896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9" name="Shape 29"/>
          <p:cNvSpPr txBox="1"/>
          <p:nvPr/>
        </p:nvSpPr>
        <p:spPr>
          <a:xfrm>
            <a:off x="1188720" y="3493008"/>
            <a:ext cx="310896" cy="310896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1188720" y="4133087"/>
            <a:ext cx="310896" cy="310896"/>
          </a:xfrm>
          <a:prstGeom prst="ellipse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1" name="Shape 31"/>
          <p:cNvSpPr txBox="1"/>
          <p:nvPr/>
        </p:nvSpPr>
        <p:spPr>
          <a:xfrm>
            <a:off x="1664208" y="160020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>
                <a:solidFill>
                  <a:srgbClr val="E5E7EB"/>
                </a:solidFill>
                <a:latin typeface="Microsoft YaHei"/>
                <a:ea typeface="Microsoft YaHei"/>
              </a:rPr>
              <a:t>选定示范区域：园区、景区、港口、机场周边或城市重点片区</a:t>
            </a:r>
            <a:endParaRPr lang="zh-CN" sz="1300"/>
          </a:p>
        </p:txBody>
      </p:sp>
      <p:sp>
        <p:nvSpPr>
          <p:cNvPr id="32" name="Shape 32"/>
          <p:cNvSpPr txBox="1"/>
          <p:nvPr/>
        </p:nvSpPr>
        <p:spPr>
          <a:xfrm>
            <a:off x="1664208" y="224028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>
                <a:solidFill>
                  <a:srgbClr val="E5E7EB"/>
                </a:solidFill>
                <a:latin typeface="Microsoft YaHei"/>
                <a:ea typeface="Microsoft YaHei"/>
              </a:rPr>
              <a:t>明确一期数据清单：空域、航线、起降点、障碍物、设备、主体、航空器</a:t>
            </a:r>
            <a:endParaRPr lang="zh-CN" sz="1300"/>
          </a:p>
        </p:txBody>
      </p:sp>
      <p:sp>
        <p:nvSpPr>
          <p:cNvPr id="33" name="Shape 33"/>
          <p:cNvSpPr txBox="1"/>
          <p:nvPr/>
        </p:nvSpPr>
        <p:spPr>
          <a:xfrm>
            <a:off x="1664208" y="288036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>
                <a:solidFill>
                  <a:srgbClr val="E5E7EB"/>
                </a:solidFill>
                <a:latin typeface="Microsoft YaHei"/>
                <a:ea typeface="Microsoft YaHei"/>
              </a:rPr>
              <a:t>选择两类场景打深：建议优先应急保障 + 城市治理/巡检</a:t>
            </a:r>
            <a:endParaRPr lang="zh-CN" sz="1300"/>
          </a:p>
        </p:txBody>
      </p:sp>
      <p:sp>
        <p:nvSpPr>
          <p:cNvPr id="34" name="Shape 34"/>
          <p:cNvSpPr txBox="1"/>
          <p:nvPr/>
        </p:nvSpPr>
        <p:spPr>
          <a:xfrm>
            <a:off x="1664208" y="352044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>
                <a:solidFill>
                  <a:srgbClr val="E5E7EB"/>
                </a:solidFill>
                <a:latin typeface="Microsoft YaHei"/>
                <a:ea typeface="Microsoft YaHei"/>
              </a:rPr>
              <a:t>定义验收脚本：申请、审批、放行、监控、告警、复盘全链路演示</a:t>
            </a:r>
            <a:endParaRPr lang="zh-CN" sz="1300"/>
          </a:p>
        </p:txBody>
      </p:sp>
      <p:sp>
        <p:nvSpPr>
          <p:cNvPr id="35" name="Shape 35"/>
          <p:cNvSpPr txBox="1"/>
          <p:nvPr/>
        </p:nvSpPr>
        <p:spPr>
          <a:xfrm>
            <a:off x="1664208" y="416052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1300">
                <a:solidFill>
                  <a:srgbClr val="E5E7EB"/>
                </a:solidFill>
                <a:latin typeface="Microsoft YaHei"/>
                <a:ea typeface="Microsoft YaHei"/>
              </a:rPr>
              <a:t>同步启动接口方案：预留 UOM/USS、无人机厂商、GIS/CIM、应急平台对接</a:t>
            </a:r>
            <a:endParaRPr lang="zh-CN" sz="1300"/>
          </a:p>
        </p:txBody>
      </p:sp>
      <p:sp>
        <p:nvSpPr>
          <p:cNvPr id="36" name="Shape 36"/>
          <p:cNvSpPr txBox="1"/>
          <p:nvPr/>
        </p:nvSpPr>
        <p:spPr>
          <a:xfrm>
            <a:off x="822960" y="5440680"/>
            <a:ext cx="10561320" cy="502920"/>
          </a:xfrm>
          <a:prstGeom prst="round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7" name="Shape 37"/>
          <p:cNvSpPr txBox="1"/>
          <p:nvPr/>
        </p:nvSpPr>
        <p:spPr>
          <a:xfrm>
            <a:off x="1097280" y="5605272"/>
            <a:ext cx="10012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00" b="1">
                <a:solidFill>
                  <a:srgbClr val="0B0D10"/>
                </a:solidFill>
                <a:latin typeface="Microsoft YaHei"/>
                <a:ea typeface="Microsoft YaHei"/>
              </a:rPr>
              <a:t>建议先做“示范区 + 两场景 + 一套验收脚本”，用真实闭环证明平台价值。</a:t>
            </a:r>
            <a:endParaRPr lang="zh-CN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3" name="Shape 3"/>
          <p:cNvSpPr txBox="1"/>
          <p:nvPr/>
        </p:nvSpPr>
        <p:spPr>
          <a:xfrm>
            <a:off x="6400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4" name="Shape 4"/>
          <p:cNvSpPr txBox="1"/>
          <p:nvPr/>
        </p:nvSpPr>
        <p:spPr>
          <a:xfrm>
            <a:off x="19202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32004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6" name="Shape 6"/>
          <p:cNvSpPr txBox="1"/>
          <p:nvPr/>
        </p:nvSpPr>
        <p:spPr>
          <a:xfrm>
            <a:off x="44805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7" name="Shape 7"/>
          <p:cNvSpPr txBox="1"/>
          <p:nvPr/>
        </p:nvSpPr>
        <p:spPr>
          <a:xfrm>
            <a:off x="576072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704088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9" name="Shape 9"/>
          <p:cNvSpPr txBox="1"/>
          <p:nvPr/>
        </p:nvSpPr>
        <p:spPr>
          <a:xfrm>
            <a:off x="832104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960120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10881360" y="731520"/>
            <a:ext cx="5486" cy="54864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2" name="Shape 12"/>
          <p:cNvSpPr txBox="1"/>
          <p:nvPr/>
        </p:nvSpPr>
        <p:spPr>
          <a:xfrm>
            <a:off x="411480" y="11887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3" name="Shape 13"/>
          <p:cNvSpPr txBox="1"/>
          <p:nvPr/>
        </p:nvSpPr>
        <p:spPr>
          <a:xfrm>
            <a:off x="411480" y="20116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411480" y="283464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5" name="Shape 15"/>
          <p:cNvSpPr txBox="1"/>
          <p:nvPr/>
        </p:nvSpPr>
        <p:spPr>
          <a:xfrm>
            <a:off x="411480" y="365760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6" name="Shape 16"/>
          <p:cNvSpPr txBox="1"/>
          <p:nvPr/>
        </p:nvSpPr>
        <p:spPr>
          <a:xfrm>
            <a:off x="411480" y="448056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7" name="Shape 17"/>
          <p:cNvSpPr txBox="1"/>
          <p:nvPr/>
        </p:nvSpPr>
        <p:spPr>
          <a:xfrm>
            <a:off x="411480" y="530352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411480" y="6126480"/>
            <a:ext cx="11338560" cy="5486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19" name="Shape 19"/>
          <p:cNvSpPr txBox="1"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0" name="Shape 20"/>
          <p:cNvSpPr txBox="1"/>
          <p:nvPr/>
        </p:nvSpPr>
        <p:spPr>
          <a:xfrm>
            <a:off x="502920" y="329184"/>
            <a:ext cx="146304" cy="146304"/>
          </a:xfrm>
          <a:prstGeom prst="rect">
            <a:avLst/>
          </a:prstGeom>
          <a:solidFill>
            <a:srgbClr val="FFD21F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1" name="Shape 21"/>
          <p:cNvSpPr txBox="1"/>
          <p:nvPr/>
        </p:nvSpPr>
        <p:spPr>
          <a:xfrm>
            <a:off x="713232" y="219456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2000" b="1">
                <a:solidFill>
                  <a:srgbClr val="E5E7EB"/>
                </a:solidFill>
                <a:latin typeface="Microsoft YaHei"/>
                <a:ea typeface="Microsoft YaHei"/>
              </a:rPr>
              <a:t>参考资料</a:t>
            </a:r>
            <a:endParaRPr lang="zh-CN" sz="2000"/>
          </a:p>
        </p:txBody>
      </p:sp>
      <p:sp>
        <p:nvSpPr>
          <p:cNvPr id="22" name="Shape 22"/>
          <p:cNvSpPr txBox="1"/>
          <p:nvPr/>
        </p:nvSpPr>
        <p:spPr>
          <a:xfrm>
            <a:off x="731520" y="658368"/>
            <a:ext cx="8961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报告与 PPT 内容基于公开资料和前述分析整理。</a:t>
            </a:r>
            <a:endParaRPr lang="zh-CN" sz="800"/>
          </a:p>
        </p:txBody>
      </p:sp>
      <p:sp>
        <p:nvSpPr>
          <p:cNvPr id="23" name="Shape 23"/>
          <p:cNvSpPr txBox="1"/>
          <p:nvPr/>
        </p:nvSpPr>
        <p:spPr>
          <a:xfrm>
            <a:off x="10012680" y="320040"/>
            <a:ext cx="1508760" cy="29260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c" marL="0" indent="0">
              <a:buNone/>
            </a:pPr>
            <a:r>
              <a:rPr lang="zh-CN" sz="800" b="1">
                <a:solidFill>
                  <a:srgbClr val="FFD21F"/>
                </a:solidFill>
                <a:latin typeface="Microsoft YaHei"/>
                <a:ea typeface="Microsoft YaHei"/>
              </a:rPr>
              <a:t>REF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marL="0" indent="0">
              <a:buNone/>
            </a:pPr>
            <a:r>
              <a:rPr lang="zh-CN" sz="700">
                <a:solidFill>
                  <a:srgbClr val="64748B"/>
                </a:solidFill>
                <a:latin typeface="Microsoft YaHei"/>
                <a:ea typeface="Microsoft YaHei"/>
              </a:rPr>
              <a:t>18/18</a:t>
            </a:r>
            <a:endParaRPr lang="zh-CN" sz="700"/>
          </a:p>
        </p:txBody>
      </p:sp>
      <p:sp>
        <p:nvSpPr>
          <p:cNvPr id="25" name="Shape 25"/>
          <p:cNvSpPr txBox="1"/>
          <p:nvPr/>
        </p:nvSpPr>
        <p:spPr>
          <a:xfrm>
            <a:off x="777240" y="1143000"/>
            <a:ext cx="10652760" cy="4526280"/>
          </a:xfrm>
          <a:prstGeom prst="roundRect">
            <a:avLst/>
          </a:prstGeom>
          <a:solidFill>
            <a:srgbClr val="151922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6" name="Shape 26"/>
          <p:cNvSpPr txBox="1"/>
          <p:nvPr/>
        </p:nvSpPr>
        <p:spPr>
          <a:xfrm>
            <a:off x="1078992" y="1481328"/>
            <a:ext cx="996696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中国信通院：《低空产业高质量发展路径及其策略研究报告（2025年）》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中国民航局：《无人驾驶航空器飞行管理暂行条例》及 UOM/USS 数据接口征求意见材料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深城交：低空管控方案公开资料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中科星图：星图低空云、低空规划平台公开资料及年报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Altitude Angel、Unifly、ANRA、OneSky 官方 UTM/U-space 资料</a:t>
            </a:r>
            <a:endParaRPr lang="zh-CN" sz="1200"/>
          </a:p>
          <a:p>
            <a:pPr algn="l" marL="137160" indent="-100584">
              <a:buChar char="•"/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DJI Enterprise：DJI FlightHub 2 官方资料</a:t>
            </a:r>
            <a:endParaRPr lang="zh-CN" sz="1200"/>
          </a:p>
        </p:txBody>
      </p:sp>
      <p:sp>
        <p:nvSpPr>
          <p:cNvPr id="27" name="Shape 27"/>
          <p:cNvSpPr txBox="1"/>
          <p:nvPr/>
        </p:nvSpPr>
        <p:spPr>
          <a:xfrm>
            <a:off x="777240" y="5870448"/>
            <a:ext cx="10652760" cy="32004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43A46"/>
            </a:solidFill>
          </a:ln>
        </p:spPr>
        <p:txBody>
          <a:bodyPr wrap="square" lIns="54864" tIns="54864" rIns="54864" bIns="54864" anchor="ctr"/>
          <a:lstStyle/>
          <a:p>
            <a:pPr algn="l" marL="0" indent="0">
              <a:buNone/>
            </a:pPr>
            <a:r>
              <a:rPr lang="zh-CN" sz="1200">
                <a:solidFill>
                  <a:srgbClr val="E5E7EB"/>
                </a:solidFill>
                <a:latin typeface="Microsoft YaHei"/>
                <a:ea typeface="Microsoft YaHei"/>
              </a:rPr>
              <a:t/>
            </a:r>
            <a:endParaRPr lang="zh-CN" sz="1200"/>
          </a:p>
        </p:txBody>
      </p:sp>
      <p:sp>
        <p:nvSpPr>
          <p:cNvPr id="28" name="Shape 28"/>
          <p:cNvSpPr txBox="1"/>
          <p:nvPr/>
        </p:nvSpPr>
        <p:spPr>
          <a:xfrm>
            <a:off x="1051560" y="5961888"/>
            <a:ext cx="10104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>
              <a:buNone/>
            </a:pPr>
            <a:r>
              <a:rPr lang="zh-CN" sz="800">
                <a:solidFill>
                  <a:srgbClr val="94A3B8"/>
                </a:solidFill>
                <a:latin typeface="Microsoft YaHei"/>
                <a:ea typeface="Microsoft YaHei"/>
              </a:rPr>
              <a:t>注：正式对外汇报前，建议结合本地低空专班、监管接口和示范区数据进一步替换为本地化表述。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Tech">
  <a:themeElements>
    <a:clrScheme name="DarkTech">
      <a:dk1>
        <a:srgbClr val="0B0D10"/>
      </a:dk1>
      <a:lt1>
        <a:srgbClr val="FFFFFF"/>
      </a:lt1>
      <a:dk2>
        <a:srgbClr val="151922"/>
      </a:dk2>
      <a:lt2>
        <a:srgbClr val="F8FAFC"/>
      </a:lt2>
      <a:accent1>
        <a:srgbClr val="FFD21F"/>
      </a:accent1>
      <a:accent2>
        <a:srgbClr val="00E5FF"/>
      </a:accent2>
      <a:accent3>
        <a:srgbClr val="22C55E"/>
      </a:accent3>
      <a:accent4>
        <a:srgbClr val="F59E0B"/>
      </a:accent4>
      <a:accent5>
        <a:srgbClr val="EF4444"/>
      </a:accent5>
      <a:accent6>
        <a:srgbClr val="8B5CF6"/>
      </a:accent6>
      <a:hlink>
        <a:srgbClr val="00E5FF"/>
      </a:hlink>
      <a:folHlink>
        <a:srgbClr val="FFD21F"/>
      </a:folHlink>
    </a:clrScheme>
    <a:fontScheme name="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16:9</PresentationFormat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低空数字孪生平台竞品分析与系统功能需求分析汇报</dc:title>
  <dc:creator>Codex</dc:creator>
  <cp:lastModifiedBy>Codex</cp:lastModifiedBy>
  <dcterms:created xsi:type="dcterms:W3CDTF">2026-05-15T00:00:00Z</dcterms:created>
  <dcterms:modified xsi:type="dcterms:W3CDTF">2026-05-15T00:00:00Z</dcterms:modified>
</cp:coreProperties>
</file>